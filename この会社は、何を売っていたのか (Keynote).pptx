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/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S01</a:t>
            </a:r>
            <a:endParaRPr lang="en-US" sz="975" spc="15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50020" y="471465"/>
            <a:ext cx="1045525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本の四つの主張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23694" y="470825"/>
            <a:ext cx="1653967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DOUGLAS HOLT, 2004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990570" y="1200150"/>
            <a:ext cx="2209830" cy="3200400"/>
          </a:xfrm>
          <a:prstGeom prst="rect">
            <a:avLst/>
          </a:prstGeom>
          <a:solidFill>
            <a:srgbClr val="F3F1E9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990570" y="1200150"/>
            <a:ext cx="220983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990570" y="4391040"/>
            <a:ext cx="220983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990570" y="1200150"/>
            <a:ext cx="9510" cy="320040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3190890" y="1200150"/>
            <a:ext cx="9510" cy="320040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914400" y="1143000"/>
            <a:ext cx="2209830" cy="320040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14400" y="1143000"/>
            <a:ext cx="114300" cy="3200400"/>
          </a:xfrm>
          <a:prstGeom prst="rect">
            <a:avLst/>
          </a:prstGeom>
          <a:solidFill>
            <a:srgbClr val="3B4A2E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181130" y="1400221"/>
            <a:ext cx="1276502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dirty="0">
                <a:solidFill>
                  <a:srgbClr val="DFDBD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ダグラス・B・ホルト</a:t>
            </a:r>
            <a:endParaRPr lang="ja-JP" altLang="en-US" sz="1050" dirty="0">
              <a:solidFill>
                <a:srgbClr val="DFDBD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1130" y="1666860"/>
            <a:ext cx="1544696" cy="723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650" spc="66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『ブランドが</a:t>
            </a:r>
            <a:endParaRPr lang="ja-JP" altLang="en-US" sz="1650" spc="66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650" spc="66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神話になる日』</a:t>
            </a:r>
            <a:endParaRPr lang="ja-JP" altLang="en-US" sz="1650" spc="66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1130" y="2458822"/>
            <a:ext cx="1174547" cy="495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126" kern="0" dirty="0">
                <a:solidFill>
                  <a:srgbClr val="DFDBD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HOW BRANDS</a:t>
            </a:r>
            <a:endParaRPr lang="en-US" sz="1050" spc="126" kern="0" dirty="0">
              <a:solidFill>
                <a:srgbClr val="DFDBD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spc="126" kern="0" dirty="0">
                <a:solidFill>
                  <a:srgbClr val="DFDBD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BECOME ICONS</a:t>
            </a:r>
            <a:endParaRPr lang="en-US" sz="1050" spc="126" kern="0" dirty="0">
              <a:solidFill>
                <a:srgbClr val="DFDBD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81130" y="3838560"/>
            <a:ext cx="1771650" cy="9510"/>
          </a:xfrm>
          <a:prstGeom prst="rect">
            <a:avLst/>
          </a:prstGeom>
          <a:solidFill>
            <a:srgbClr val="A2AB97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1181130" y="3960998"/>
            <a:ext cx="1811518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ja-JP" altLang="en-US" sz="1050" spc="84" kern="0" dirty="0">
                <a:solidFill>
                  <a:srgbClr val="DFDBD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原著 2004 ／ 邦訳 2005</a:t>
            </a:r>
            <a:endParaRPr lang="ja-JP" altLang="en-US" sz="1050" spc="84" kern="0" dirty="0">
              <a:solidFill>
                <a:srgbClr val="DFDBD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81430" y="1214415"/>
            <a:ext cx="7696230" cy="5429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今日の話の軸は、この本の主張です。</a:t>
            </a:r>
            <a:endParaRPr lang="ja-JP" altLang="en-US" sz="2250" spc="45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581430" y="2133570"/>
            <a:ext cx="769623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4000500" y="1890705"/>
            <a:ext cx="4953030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68" kern="0" dirty="0">
                <a:solidFill>
                  <a:srgbClr val="6E6B6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主張</a:t>
            </a:r>
            <a:endParaRPr lang="ja-JP" altLang="en-US" sz="1050" spc="168" kern="0" dirty="0">
              <a:solidFill>
                <a:srgbClr val="6E6B6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53530" y="1890705"/>
            <a:ext cx="2324130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68" kern="0" dirty="0">
                <a:solidFill>
                  <a:srgbClr val="6E6B6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事例</a:t>
            </a:r>
            <a:endParaRPr lang="ja-JP" altLang="en-US" sz="1050" spc="168" kern="0" dirty="0">
              <a:solidFill>
                <a:srgbClr val="6E6B6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581430" y="2628900"/>
            <a:ext cx="7696230" cy="9510"/>
          </a:xfrm>
          <a:prstGeom prst="rect">
            <a:avLst/>
          </a:prstGeom>
          <a:solidFill>
            <a:srgbClr val="DFDBD0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3581430" y="2347265"/>
            <a:ext cx="41907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7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01</a:t>
            </a:r>
            <a:endParaRPr lang="en-US" sz="975" spc="17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00500" y="2281245"/>
            <a:ext cx="4953030" cy="428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33" kern="0" dirty="0">
                <a:solidFill>
                  <a:srgbClr val="1B1A16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建前と実感には、いつもズレがある</a:t>
            </a:r>
            <a:endParaRPr lang="ja-JP" altLang="en-US" sz="1650" spc="33" kern="0" dirty="0">
              <a:solidFill>
                <a:srgbClr val="1B1A16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53530" y="2343150"/>
            <a:ext cx="2324130" cy="3286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三社すべて</a:t>
            </a:r>
            <a:endParaRPr lang="ja-JP" alt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581430" y="3124230"/>
            <a:ext cx="7696230" cy="9510"/>
          </a:xfrm>
          <a:prstGeom prst="rect">
            <a:avLst/>
          </a:prstGeom>
          <a:solidFill>
            <a:srgbClr val="DFDBD0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3581430" y="2842595"/>
            <a:ext cx="41907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7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02</a:t>
            </a:r>
            <a:endParaRPr lang="en-US" sz="975" spc="17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00500" y="2776576"/>
            <a:ext cx="4953030" cy="428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33" kern="0" dirty="0">
                <a:solidFill>
                  <a:srgbClr val="1B1A16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強いブランドは、そのズレを埋める</a:t>
            </a:r>
            <a:r>
              <a:rPr lang="ja-JP" altLang="en-US" sz="1650" spc="33" kern="0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r>
              <a:rPr lang="ja-JP" altLang="en-US" sz="1650" spc="33" kern="0" dirty="0">
                <a:solidFill>
                  <a:srgbClr val="1B1A16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を売る</a:t>
            </a:r>
            <a:endParaRPr lang="ja-JP" altLang="en-US" sz="1650" spc="33" kern="0" dirty="0">
              <a:solidFill>
                <a:srgbClr val="1B1A16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53530" y="2838480"/>
            <a:ext cx="2324130" cy="3286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三社すべて</a:t>
            </a:r>
            <a:endParaRPr lang="ja-JP" alt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581430" y="3619470"/>
            <a:ext cx="7696230" cy="9510"/>
          </a:xfrm>
          <a:prstGeom prst="rect">
            <a:avLst/>
          </a:prstGeom>
          <a:solidFill>
            <a:srgbClr val="DFDBD0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3581430" y="3337926"/>
            <a:ext cx="41907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7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03</a:t>
            </a:r>
            <a:endParaRPr lang="en-US" sz="975" spc="17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000500" y="3271815"/>
            <a:ext cx="4953030" cy="428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33" kern="0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r>
              <a:rPr lang="ja-JP" altLang="en-US" sz="1650" spc="33" kern="0" dirty="0">
                <a:solidFill>
                  <a:srgbClr val="1B1A16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には、賞味期限がある</a:t>
            </a:r>
            <a:endParaRPr lang="ja-JP" altLang="en-US" sz="1650" spc="33" kern="0" dirty="0">
              <a:solidFill>
                <a:srgbClr val="1B1A16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953530" y="3333720"/>
            <a:ext cx="2324130" cy="3286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Cyberpunk</a:t>
            </a:r>
            <a:endParaRPr 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581430" y="4114800"/>
            <a:ext cx="7696230" cy="9510"/>
          </a:xfrm>
          <a:prstGeom prst="rect">
            <a:avLst/>
          </a:prstGeom>
          <a:solidFill>
            <a:srgbClr val="DFDBD0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3581430" y="3833165"/>
            <a:ext cx="41907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7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04</a:t>
            </a:r>
            <a:endParaRPr lang="en-US" sz="975" spc="17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00500" y="3767145"/>
            <a:ext cx="4953030" cy="428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33" kern="0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r>
              <a:rPr lang="ja-JP" altLang="en-US" sz="1650" spc="33" kern="0" dirty="0">
                <a:solidFill>
                  <a:srgbClr val="1B1A16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の材料は、商売の外から採る</a:t>
            </a:r>
            <a:endParaRPr lang="ja-JP" altLang="en-US" sz="1650" spc="33" kern="0" dirty="0">
              <a:solidFill>
                <a:srgbClr val="1B1A16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953530" y="3829050"/>
            <a:ext cx="2324130" cy="3286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原神</a:t>
            </a:r>
            <a:endParaRPr lang="ja-JP" alt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581430" y="4700565"/>
            <a:ext cx="4442978" cy="4399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最後に、私たちのマーケティングに問いを立てます。</a:t>
            </a:r>
            <a:endParaRPr lang="ja-JP" altLang="en-US" sz="1425" spc="43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14400" y="790590"/>
            <a:ext cx="533370" cy="28621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5571" y="1219170"/>
            <a:ext cx="1362090" cy="247620"/>
          </a:xfrm>
          <a:custGeom>
            <a:avLst/>
            <a:gdLst/>
            <a:ahLst/>
            <a:cxnLst/>
            <a:rect l="l" t="t" r="r" b="b"/>
            <a:pathLst>
              <a:path w="1362090" h="247620">
                <a:moveTo>
                  <a:pt x="0" y="0"/>
                </a:moveTo>
                <a:lnTo>
                  <a:pt x="1362090" y="0"/>
                </a:lnTo>
                <a:lnTo>
                  <a:pt x="1362090" y="247620"/>
                </a:lnTo>
                <a:lnTo>
                  <a:pt x="0" y="2476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0760" y="1276320"/>
            <a:ext cx="95280" cy="133320"/>
          </a:xfrm>
          <a:custGeom>
            <a:avLst/>
            <a:gdLst/>
            <a:ahLst/>
            <a:cxnLst/>
            <a:rect l="l" t="t" r="r" b="b"/>
            <a:pathLst>
              <a:path w="95280" h="133320">
                <a:moveTo>
                  <a:pt x="0" y="0"/>
                </a:moveTo>
                <a:lnTo>
                  <a:pt x="95280" y="0"/>
                </a:lnTo>
                <a:lnTo>
                  <a:pt x="95280" y="133320"/>
                </a:lnTo>
                <a:lnTo>
                  <a:pt x="0" y="1333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9380" y="1276320"/>
            <a:ext cx="0" cy="133320"/>
          </a:xfrm>
          <a:prstGeom prst="line">
            <a:avLst/>
          </a:pr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FAF9F5"/>
          </a:solidFill>
          <a:ln w="14288">
            <a:solidFill>
              <a:srgbClr val="3331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170" y="243843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4A5D3A">
              <a:alpha val="10000"/>
            </a:srgbClr>
          </a:solidFill>
          <a:ln w="19050">
            <a:solidFill>
              <a:srgbClr val="4A5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30" y="304797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33312A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315200" y="2362170"/>
            <a:ext cx="110487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7924830" y="3047970"/>
            <a:ext cx="49533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8305770" y="2381280"/>
            <a:ext cx="0" cy="64767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2371771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3038460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S02</a:t>
            </a:r>
            <a:endParaRPr lang="en-US" sz="975" spc="15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50020" y="471465"/>
            <a:ext cx="746882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今日の見方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23694" y="470825"/>
            <a:ext cx="1653967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DOUGLAS HOLT, 2004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914400" y="1252545"/>
            <a:ext cx="8572500" cy="4399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本の主張を、一枚の絵にすると。</a:t>
            </a:r>
            <a:endParaRPr lang="ja-JP" altLang="en-US" sz="1425" spc="43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91720" y="1265438"/>
            <a:ext cx="1015990" cy="36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ja-JP" altLang="en-US" sz="1050" spc="12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HOLT 01・02</a:t>
            </a:r>
            <a:endParaRPr lang="ja-JP" altLang="en-US" sz="1050" spc="12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4870" y="2086021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建前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38430" y="1952610"/>
            <a:ext cx="3183301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みんなが言っていること</a:t>
            </a:r>
            <a:endParaRPr lang="ja-JP" altLang="en-US" sz="2250" spc="45" kern="0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09730" y="2662276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endParaRPr lang="ja-JP" altLang="en-US" sz="1125" dirty="0">
              <a:solidFill>
                <a:srgbClr val="4A5D3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71650" y="2656058"/>
            <a:ext cx="48152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STORY</a:t>
            </a:r>
            <a:endParaRPr lang="en-US" sz="1050" spc="126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38430" y="2600371"/>
            <a:ext cx="1726662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50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ズレを埋める物語</a:t>
            </a:r>
            <a:endParaRPr lang="ja-JP" altLang="en-US" sz="1650" spc="50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14500" y="3305190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DFDBD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実感</a:t>
            </a:r>
            <a:endParaRPr lang="ja-JP" altLang="en-US" sz="1125" spc="158" kern="0" dirty="0">
              <a:solidFill>
                <a:srgbClr val="DFDBD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438430" y="3171871"/>
            <a:ext cx="291465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本当に起きていること</a:t>
            </a:r>
            <a:endParaRPr lang="ja-JP" altLang="en-US" sz="2250" spc="45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96330" y="2633655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ズレ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14400" y="40005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914400" y="426723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914400" y="4543471"/>
            <a:ext cx="1036317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強いブランドは、真ん中の</a:t>
            </a:r>
            <a:r>
              <a:rPr lang="ja-JP" altLang="en-US" sz="3000" dirty="0">
                <a:solidFill>
                  <a:srgbClr val="4A5D3A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物語</a:t>
            </a: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を売っている。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14400" y="790590"/>
            <a:ext cx="533370" cy="28621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1420" y="449583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4495830"/>
            <a:ext cx="1066830" cy="457200"/>
          </a:xfrm>
          <a:custGeom>
            <a:avLst/>
            <a:gdLst/>
            <a:ahLst/>
            <a:cxnLst/>
            <a:rect l="l" t="t" r="r" b="b"/>
            <a:pathLst>
              <a:path w="1066830" h="457200">
                <a:moveTo>
                  <a:pt x="0" y="0"/>
                </a:moveTo>
                <a:lnTo>
                  <a:pt x="1066830" y="0"/>
                </a:lnTo>
                <a:lnTo>
                  <a:pt x="1066830" y="457200"/>
                </a:lnTo>
                <a:lnTo>
                  <a:pt x="0" y="45720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915400" y="4495830"/>
            <a:ext cx="1066830" cy="457200"/>
          </a:xfrm>
          <a:prstGeom prst="line">
            <a:avLst/>
          </a:prstGeom>
          <a:noFill/>
          <a:ln w="14288">
            <a:solidFill>
              <a:srgbClr val="9C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915400" y="4495830"/>
            <a:ext cx="1066830" cy="457200"/>
          </a:xfrm>
          <a:prstGeom prst="line">
            <a:avLst/>
          </a:prstGeom>
          <a:noFill/>
          <a:ln w="14288">
            <a:solidFill>
              <a:srgbClr val="9C4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20" y="449583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77120" y="4953030"/>
            <a:ext cx="3543300" cy="0"/>
          </a:xfrm>
          <a:prstGeom prst="line">
            <a:avLst/>
          </a:prstGeom>
          <a:noFill/>
          <a:ln w="19050">
            <a:solidFill>
              <a:srgbClr val="C9C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9C4A3C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S03</a:t>
            </a:r>
            <a:endParaRPr lang="en-US" sz="975" spc="156" kern="0" dirty="0">
              <a:solidFill>
                <a:srgbClr val="9C4A3C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50020" y="471465"/>
            <a:ext cx="1060247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事例 1｜任天堂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66792" y="470825"/>
            <a:ext cx="1010869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1983 — 1985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800100"/>
            <a:ext cx="10363170" cy="1902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914400" y="1352580"/>
            <a:ext cx="10363170" cy="1453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ja-JP" altLang="en-US" sz="150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1983</a:t>
            </a:r>
            <a:r>
              <a:rPr lang="ja-JP" altLang="en-US" sz="1425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年、アメリカでゲーム機が急に売れなくなった（アタリショック）。</a:t>
            </a:r>
            <a:endParaRPr lang="ja-JP" altLang="en-US" sz="1425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2700"/>
              </a:lnSpc>
              <a:spcBef>
                <a:spcPts val="1050"/>
              </a:spcBef>
              <a:buNone/>
            </a:pPr>
            <a:r>
              <a:rPr lang="ja-JP" altLang="en-US" sz="1425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「ビデオゲームは、もう終わった」。みんながそう言った。</a:t>
            </a:r>
            <a:endParaRPr lang="ja-JP" altLang="en-US" sz="1425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2700"/>
              </a:lnSpc>
              <a:spcBef>
                <a:spcPts val="1050"/>
              </a:spcBef>
              <a:buNone/>
            </a:pPr>
            <a:r>
              <a:rPr lang="ja-JP" altLang="en-US" sz="150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1985</a:t>
            </a:r>
            <a:r>
              <a:rPr lang="ja-JP" altLang="en-US" sz="1425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年、任天堂はそのアメリカで売ろうとした。</a:t>
            </a:r>
            <a:endParaRPr lang="ja-JP" altLang="en-US" sz="1425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4095780"/>
            <a:ext cx="4190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914400" y="4562490"/>
            <a:ext cx="5425684" cy="666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でも、店に</a:t>
            </a:r>
            <a:r>
              <a:rPr lang="ja-JP" altLang="en-US" sz="3000" spc="60" kern="0" dirty="0">
                <a:solidFill>
                  <a:srgbClr val="9C4A3C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置いてもらえない</a:t>
            </a: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。</a:t>
            </a:r>
            <a:endParaRPr lang="ja-JP" altLang="en-US" sz="3000" spc="60" kern="0" dirty="0">
              <a:solidFill>
                <a:srgbClr val="1B1A16"/>
              </a:solidFill>
              <a:latin typeface="Hiragino Mincho ProN W3" pitchFamily="34" charset="0"/>
              <a:ea typeface="Hiragino Mincho ProN W3" pitchFamily="34" charset="-122"/>
              <a:cs typeface="Hiragino Mincho ProN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15400" y="4214835"/>
            <a:ext cx="106683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6E6B6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ゲーム機</a:t>
            </a:r>
            <a:endParaRPr lang="ja-JP" altLang="en-US" sz="1125" spc="45" kern="0" dirty="0">
              <a:solidFill>
                <a:srgbClr val="6E6B6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790590"/>
            <a:ext cx="914400" cy="38130"/>
          </a:xfrm>
          <a:prstGeom prst="rect">
            <a:avLst/>
          </a:prstGeom>
          <a:solidFill>
            <a:srgbClr val="9C4A3C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7400" y="5791170"/>
            <a:ext cx="952530" cy="381030"/>
          </a:xfrm>
          <a:custGeom>
            <a:avLst/>
            <a:gdLst/>
            <a:ahLst/>
            <a:cxnLst/>
            <a:rect l="l" t="t" r="r" b="b"/>
            <a:pathLst>
              <a:path w="952530" h="381030">
                <a:moveTo>
                  <a:pt x="0" y="0"/>
                </a:moveTo>
                <a:lnTo>
                  <a:pt x="952530" y="0"/>
                </a:lnTo>
                <a:lnTo>
                  <a:pt x="952530" y="381030"/>
                </a:lnTo>
                <a:lnTo>
                  <a:pt x="0" y="38103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24230" y="5791170"/>
            <a:ext cx="685800" cy="381030"/>
          </a:xfrm>
          <a:custGeom>
            <a:avLst/>
            <a:gdLst/>
            <a:ahLst/>
            <a:cxnLst/>
            <a:rect l="l" t="t" r="r" b="b"/>
            <a:pathLst>
              <a:path w="685800" h="381030">
                <a:moveTo>
                  <a:pt x="0" y="0"/>
                </a:moveTo>
                <a:lnTo>
                  <a:pt x="685800" y="0"/>
                </a:lnTo>
                <a:lnTo>
                  <a:pt x="685800" y="381030"/>
                </a:lnTo>
                <a:lnTo>
                  <a:pt x="0" y="38103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924330" y="5791170"/>
            <a:ext cx="952530" cy="381030"/>
          </a:xfrm>
          <a:custGeom>
            <a:avLst/>
            <a:gdLst/>
            <a:ahLst/>
            <a:cxnLst/>
            <a:rect l="l" t="t" r="r" b="b"/>
            <a:pathLst>
              <a:path w="952530" h="381030">
                <a:moveTo>
                  <a:pt x="0" y="0"/>
                </a:moveTo>
                <a:lnTo>
                  <a:pt x="952530" y="0"/>
                </a:lnTo>
                <a:lnTo>
                  <a:pt x="952530" y="381030"/>
                </a:lnTo>
                <a:lnTo>
                  <a:pt x="0" y="38103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3100" y="6172200"/>
            <a:ext cx="3047970" cy="0"/>
          </a:xfrm>
          <a:prstGeom prst="line">
            <a:avLst/>
          </a:prstGeom>
          <a:noFill/>
          <a:ln w="19050">
            <a:solidFill>
              <a:srgbClr val="C9C4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181630" y="5953110"/>
            <a:ext cx="571500" cy="66660"/>
          </a:xfrm>
          <a:custGeom>
            <a:avLst/>
            <a:gdLst/>
            <a:ahLst/>
            <a:cxnLst/>
            <a:rect l="l" t="t" r="r" b="b"/>
            <a:pathLst>
              <a:path w="571500" h="66660">
                <a:moveTo>
                  <a:pt x="0" y="28621"/>
                </a:moveTo>
                <a:lnTo>
                  <a:pt x="95280" y="28621"/>
                </a:lnTo>
                <a:lnTo>
                  <a:pt x="190470" y="28621"/>
                </a:lnTo>
                <a:lnTo>
                  <a:pt x="285750" y="28621"/>
                </a:lnTo>
                <a:lnTo>
                  <a:pt x="381030" y="28621"/>
                </a:lnTo>
                <a:lnTo>
                  <a:pt x="485821" y="28621"/>
                </a:lnTo>
                <a:lnTo>
                  <a:pt x="571500" y="28621"/>
                </a:lnTo>
                <a:lnTo>
                  <a:pt x="561990" y="28621"/>
                </a:lnTo>
                <a:lnTo>
                  <a:pt x="514350" y="0"/>
                </a:lnTo>
                <a:lnTo>
                  <a:pt x="542971" y="9510"/>
                </a:lnTo>
                <a:lnTo>
                  <a:pt x="571500" y="28621"/>
                </a:lnTo>
                <a:lnTo>
                  <a:pt x="514350" y="66660"/>
                </a:lnTo>
              </a:path>
            </a:pathLst>
          </a:custGeom>
          <a:noFill/>
          <a:ln w="14288">
            <a:solidFill>
              <a:srgbClr val="3331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57900" y="5791170"/>
            <a:ext cx="952530" cy="381030"/>
          </a:xfrm>
          <a:custGeom>
            <a:avLst/>
            <a:gdLst/>
            <a:ahLst/>
            <a:cxnLst/>
            <a:rect l="l" t="t" r="r" b="b"/>
            <a:pathLst>
              <a:path w="952530" h="381030">
                <a:moveTo>
                  <a:pt x="0" y="0"/>
                </a:moveTo>
                <a:lnTo>
                  <a:pt x="952530" y="0"/>
                </a:lnTo>
                <a:lnTo>
                  <a:pt x="952530" y="381030"/>
                </a:lnTo>
                <a:lnTo>
                  <a:pt x="0" y="38103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24730" y="5791170"/>
            <a:ext cx="685800" cy="381030"/>
          </a:xfrm>
          <a:custGeom>
            <a:avLst/>
            <a:gdLst/>
            <a:ahLst/>
            <a:cxnLst/>
            <a:rect l="l" t="t" r="r" b="b"/>
            <a:pathLst>
              <a:path w="685800" h="381030">
                <a:moveTo>
                  <a:pt x="0" y="0"/>
                </a:moveTo>
                <a:lnTo>
                  <a:pt x="685800" y="0"/>
                </a:lnTo>
                <a:lnTo>
                  <a:pt x="685800" y="381030"/>
                </a:lnTo>
                <a:lnTo>
                  <a:pt x="0" y="381030"/>
                </a:lnTo>
                <a:close/>
              </a:path>
            </a:pathLst>
          </a:custGeom>
          <a:solidFill>
            <a:srgbClr val="9C4A3C">
              <a:alpha val="10000"/>
            </a:srgbClr>
          </a:solidFill>
          <a:ln w="19050">
            <a:solidFill>
              <a:srgbClr val="9C4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4830" y="5791170"/>
            <a:ext cx="952530" cy="381030"/>
          </a:xfrm>
          <a:custGeom>
            <a:avLst/>
            <a:gdLst/>
            <a:ahLst/>
            <a:cxnLst/>
            <a:rect l="l" t="t" r="r" b="b"/>
            <a:pathLst>
              <a:path w="952530" h="381030">
                <a:moveTo>
                  <a:pt x="0" y="0"/>
                </a:moveTo>
                <a:lnTo>
                  <a:pt x="952530" y="0"/>
                </a:lnTo>
                <a:lnTo>
                  <a:pt x="952530" y="381030"/>
                </a:lnTo>
                <a:lnTo>
                  <a:pt x="0" y="381030"/>
                </a:lnTo>
                <a:close/>
              </a:path>
            </a:pathLst>
          </a:custGeom>
          <a:noFill/>
          <a:ln w="14288">
            <a:solidFill>
              <a:srgbClr val="C9C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6172200"/>
            <a:ext cx="3047970" cy="0"/>
          </a:xfrm>
          <a:prstGeom prst="line">
            <a:avLst/>
          </a:prstGeom>
          <a:noFill/>
          <a:ln w="19050">
            <a:solidFill>
              <a:srgbClr val="3331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72250" y="5591190"/>
            <a:ext cx="857250" cy="66660"/>
          </a:xfrm>
          <a:custGeom>
            <a:avLst/>
            <a:gdLst/>
            <a:ahLst/>
            <a:cxnLst/>
            <a:rect l="l" t="t" r="r" b="b"/>
            <a:pathLst>
              <a:path w="857250" h="66660">
                <a:moveTo>
                  <a:pt x="57150" y="0"/>
                </a:moveTo>
                <a:lnTo>
                  <a:pt x="0" y="28621"/>
                </a:lnTo>
                <a:lnTo>
                  <a:pt x="57150" y="66660"/>
                </a:lnTo>
                <a:lnTo>
                  <a:pt x="47640" y="57150"/>
                </a:lnTo>
                <a:lnTo>
                  <a:pt x="0" y="28621"/>
                </a:lnTo>
                <a:lnTo>
                  <a:pt x="76170" y="28621"/>
                </a:lnTo>
                <a:lnTo>
                  <a:pt x="219090" y="28621"/>
                </a:lnTo>
                <a:lnTo>
                  <a:pt x="361920" y="28621"/>
                </a:lnTo>
                <a:lnTo>
                  <a:pt x="495330" y="28621"/>
                </a:lnTo>
                <a:lnTo>
                  <a:pt x="638160" y="28621"/>
                </a:lnTo>
                <a:lnTo>
                  <a:pt x="781080" y="28621"/>
                </a:lnTo>
                <a:lnTo>
                  <a:pt x="857250" y="28621"/>
                </a:lnTo>
                <a:lnTo>
                  <a:pt x="809610" y="0"/>
                </a:lnTo>
                <a:lnTo>
                  <a:pt x="800100" y="0"/>
                </a:lnTo>
                <a:lnTo>
                  <a:pt x="857250" y="28621"/>
                </a:lnTo>
                <a:lnTo>
                  <a:pt x="800100" y="66660"/>
                </a:lnTo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05670" y="5591190"/>
            <a:ext cx="857250" cy="66660"/>
          </a:xfrm>
          <a:custGeom>
            <a:avLst/>
            <a:gdLst/>
            <a:ahLst/>
            <a:cxnLst/>
            <a:rect l="l" t="t" r="r" b="b"/>
            <a:pathLst>
              <a:path w="857250" h="66660">
                <a:moveTo>
                  <a:pt x="57150" y="0"/>
                </a:moveTo>
                <a:lnTo>
                  <a:pt x="0" y="28621"/>
                </a:lnTo>
                <a:lnTo>
                  <a:pt x="57150" y="66660"/>
                </a:lnTo>
                <a:lnTo>
                  <a:pt x="47640" y="57150"/>
                </a:lnTo>
                <a:lnTo>
                  <a:pt x="0" y="28621"/>
                </a:lnTo>
                <a:lnTo>
                  <a:pt x="76170" y="28621"/>
                </a:lnTo>
                <a:lnTo>
                  <a:pt x="219090" y="28621"/>
                </a:lnTo>
                <a:lnTo>
                  <a:pt x="361920" y="28621"/>
                </a:lnTo>
                <a:lnTo>
                  <a:pt x="495330" y="28621"/>
                </a:lnTo>
                <a:lnTo>
                  <a:pt x="638160" y="28621"/>
                </a:lnTo>
                <a:lnTo>
                  <a:pt x="781080" y="28621"/>
                </a:lnTo>
                <a:lnTo>
                  <a:pt x="857250" y="28621"/>
                </a:lnTo>
                <a:lnTo>
                  <a:pt x="809610" y="0"/>
                </a:lnTo>
                <a:lnTo>
                  <a:pt x="800100" y="0"/>
                </a:lnTo>
                <a:lnTo>
                  <a:pt x="857250" y="28621"/>
                </a:lnTo>
                <a:lnTo>
                  <a:pt x="800100" y="66660"/>
                </a:lnTo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9C4A3C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S04</a:t>
            </a:r>
            <a:endParaRPr lang="en-US" sz="975" spc="156" kern="0" dirty="0">
              <a:solidFill>
                <a:srgbClr val="9C4A3C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50020" y="471465"/>
            <a:ext cx="1344259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任天堂がやったこと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12825" y="470825"/>
            <a:ext cx="2664836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NINTENDO ENTERTAINMENT SYSTEM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914400" y="1138245"/>
            <a:ext cx="10363170" cy="5429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68" kern="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ゲーム機として売るのを</a:t>
            </a:r>
            <a:r>
              <a:rPr lang="ja-JP" altLang="en-US" sz="2250" spc="68" kern="0" dirty="0">
                <a:solidFill>
                  <a:srgbClr val="9C4A3C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やめた</a:t>
            </a:r>
            <a:r>
              <a:rPr lang="ja-JP" altLang="en-US" sz="2250" spc="68" kern="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。</a:t>
            </a:r>
            <a:endParaRPr lang="ja-JP" altLang="en-US" sz="2250" spc="68" kern="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43100" y="1776405"/>
            <a:ext cx="5524530" cy="347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やったこと</a:t>
            </a:r>
            <a:endParaRPr lang="ja-JP" altLang="en-US" sz="1125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77170" y="1776405"/>
            <a:ext cx="3200400" cy="347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狙い</a:t>
            </a:r>
            <a:endParaRPr lang="ja-JP" altLang="en-US" sz="1125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4720224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914400" y="20574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914400" y="2337755"/>
            <a:ext cx="41907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01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43100" y="2286000"/>
            <a:ext cx="5524530" cy="4228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名前を </a:t>
            </a:r>
            <a:r>
              <a:rPr lang="ja-JP" altLang="en-US" sz="1500" spc="45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Entertainment System</a:t>
            </a: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 に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77170" y="2309774"/>
            <a:ext cx="320040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「ゲーム機」と呼ばない</a:t>
            </a:r>
            <a:endParaRPr lang="ja-JP" altLang="en-US" sz="1425" spc="43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2737348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914400" y="2998683"/>
            <a:ext cx="41907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02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43100" y="2970794"/>
            <a:ext cx="552453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見た目をビデオデッキ風に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77170" y="2970794"/>
            <a:ext cx="320040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家電に見せる</a:t>
            </a:r>
            <a:endParaRPr lang="ja-JP" altLang="en-US" sz="1425" spc="43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14400" y="3398368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914400" y="3659612"/>
            <a:ext cx="41907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03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943100" y="3631722"/>
            <a:ext cx="552453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ロボットを付けた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77170" y="3631722"/>
            <a:ext cx="320040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玩具に見せる</a:t>
            </a:r>
            <a:endParaRPr lang="ja-JP" altLang="en-US" sz="1425" spc="43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4059296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914400" y="4320540"/>
            <a:ext cx="41907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04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943100" y="4292651"/>
            <a:ext cx="552453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玩具店に置いた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077170" y="4292651"/>
            <a:ext cx="320040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玩具の隣に並ぶ</a:t>
            </a:r>
            <a:endParaRPr lang="ja-JP" altLang="en-US" sz="1425" spc="43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057400" y="5910224"/>
            <a:ext cx="95253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ゲーム機</a:t>
            </a:r>
            <a:endParaRPr lang="ja-JP" alt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24230" y="5904098"/>
            <a:ext cx="68580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lnSpc>
                <a:spcPts val="1222"/>
              </a:lnSpc>
              <a:buNone/>
            </a:pPr>
            <a:r>
              <a:rPr lang="en-US" sz="1050" spc="63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NES</a:t>
            </a:r>
            <a:endParaRPr lang="en-US" sz="1050" spc="63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24330" y="5910224"/>
            <a:ext cx="95253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ゲーム機</a:t>
            </a:r>
            <a:endParaRPr lang="ja-JP" alt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057900" y="5910224"/>
            <a:ext cx="95253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玩具</a:t>
            </a:r>
            <a:endParaRPr lang="ja-JP" alt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24730" y="5904098"/>
            <a:ext cx="68580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lnSpc>
                <a:spcPts val="1222"/>
              </a:lnSpc>
              <a:buNone/>
            </a:pPr>
            <a:r>
              <a:rPr lang="en-US" sz="1050" spc="63" kern="0" dirty="0">
                <a:solidFill>
                  <a:srgbClr val="1B1A16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NES</a:t>
            </a:r>
            <a:endParaRPr lang="en-US" sz="1050" spc="63" kern="0" dirty="0">
              <a:solidFill>
                <a:srgbClr val="1B1A16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924830" y="5910224"/>
            <a:ext cx="95253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ja-JP" altLang="en-US" sz="1125" spc="45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玩具</a:t>
            </a:r>
            <a:endParaRPr lang="ja-JP" altLang="en-US" sz="1125" spc="45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14400" y="5033955"/>
            <a:ext cx="10363170" cy="3687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5C5A50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1985</a:t>
            </a:r>
            <a:r>
              <a:rPr lang="ja-JP" altLang="en-US" sz="105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年、ニューヨークで試しに売ったとき。</a:t>
            </a:r>
            <a:endParaRPr lang="ja-JP" altLang="en-US" sz="105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14400" y="790590"/>
            <a:ext cx="533370" cy="28621"/>
          </a:xfrm>
          <a:prstGeom prst="rect">
            <a:avLst/>
          </a:prstGeom>
          <a:solidFill>
            <a:srgbClr val="9C4A3C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FAF9F5"/>
          </a:solidFill>
          <a:ln w="14288">
            <a:solidFill>
              <a:srgbClr val="333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9170" y="243843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4A5D3A">
              <a:alpha val="10000"/>
            </a:srgbClr>
          </a:solidFill>
          <a:ln w="19050">
            <a:solidFill>
              <a:srgbClr val="4A5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4030" y="304797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33312A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7315200" y="2362170"/>
            <a:ext cx="110487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7924830" y="3047970"/>
            <a:ext cx="49533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8305770" y="2381280"/>
            <a:ext cx="0" cy="64767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371771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038460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9C4A3C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S05</a:t>
            </a:r>
            <a:endParaRPr lang="en-US" sz="975" spc="156" kern="0" dirty="0">
              <a:solidFill>
                <a:srgbClr val="9C4A3C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50020" y="471465"/>
            <a:ext cx="746882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任天堂の絵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61625" y="470825"/>
            <a:ext cx="3216036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NINTENDO ENTERTAINMENT SYSTEM, 1985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914400" y="1247790"/>
            <a:ext cx="8572500" cy="459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500" spc="45" kern="0" dirty="0">
                <a:solidFill>
                  <a:srgbClr val="5C5A50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1985</a:t>
            </a:r>
            <a:r>
              <a:rPr lang="ja-JP" altLang="en-US" sz="1425" spc="43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年、アメリカ。</a:t>
            </a:r>
            <a:endParaRPr lang="ja-JP" altLang="en-US" sz="1425" spc="43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870" y="2086021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建前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38430" y="1952610"/>
            <a:ext cx="4066337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ビデオゲームは、もう終わった</a:t>
            </a:r>
            <a:endParaRPr lang="ja-JP" altLang="en-US" sz="2250" spc="45" kern="0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09730" y="2662276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endParaRPr lang="ja-JP" altLang="en-US" sz="1125" dirty="0">
              <a:solidFill>
                <a:srgbClr val="4A5D3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71650" y="2656058"/>
            <a:ext cx="48152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STORY</a:t>
            </a:r>
            <a:endParaRPr lang="en-US" sz="1050" spc="126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438430" y="2600371"/>
            <a:ext cx="3011211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50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ゲーム機ではなく、家族の玩具</a:t>
            </a:r>
            <a:endParaRPr lang="ja-JP" altLang="en-US" sz="1650" spc="50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14500" y="3305190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DFDBD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実感</a:t>
            </a:r>
            <a:endParaRPr lang="ja-JP" altLang="en-US" sz="1125" spc="158" kern="0" dirty="0">
              <a:solidFill>
                <a:srgbClr val="DFDBD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38430" y="3171871"/>
            <a:ext cx="4352087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子どもは、まだ遊びたがっていた</a:t>
            </a:r>
            <a:endParaRPr lang="ja-JP" altLang="en-US" sz="2250" spc="45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96330" y="2633655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ズレ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40005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914400" y="426723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914400" y="4372021"/>
            <a:ext cx="10363170" cy="153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売っていたのは、機械ではなく「</a:t>
            </a:r>
            <a:r>
              <a:rPr lang="ja-JP" altLang="en-US" sz="3000" dirty="0">
                <a:solidFill>
                  <a:srgbClr val="9C4A3C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家族の玩具</a:t>
            </a: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」。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1050"/>
              </a:spcBef>
              <a:buNone/>
            </a:pPr>
            <a:r>
              <a:rPr lang="ja-JP" altLang="en-US" sz="1650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を変えたら、並ぶ店まで変わった。</a:t>
            </a:r>
            <a:endParaRPr lang="ja-JP" altLang="en-US" sz="165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1350"/>
              </a:spcBef>
              <a:buNone/>
            </a:pPr>
            <a:r>
              <a:rPr lang="ja-JP" altLang="en-US" sz="975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実感は、結果から考えたもの。</a:t>
            </a:r>
            <a:endParaRPr lang="ja-JP" altLang="en-US" sz="975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" y="790590"/>
            <a:ext cx="533370" cy="28621"/>
          </a:xfrm>
          <a:prstGeom prst="rect">
            <a:avLst/>
          </a:prstGeom>
          <a:solidFill>
            <a:srgbClr val="9C4A3C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4114800"/>
            <a:ext cx="3429000" cy="342900"/>
          </a:xfrm>
          <a:custGeom>
            <a:avLst/>
            <a:gdLst/>
            <a:ahLst/>
            <a:cxnLst/>
            <a:rect l="l" t="t" r="r" b="b"/>
            <a:pathLst>
              <a:path w="3429000" h="342900">
                <a:moveTo>
                  <a:pt x="0" y="0"/>
                </a:moveTo>
                <a:lnTo>
                  <a:pt x="3429000" y="0"/>
                </a:lnTo>
                <a:lnTo>
                  <a:pt x="342900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FAF9F5"/>
          </a:solidFill>
          <a:ln w="14288">
            <a:solidFill>
              <a:srgbClr val="333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76570" y="4686300"/>
            <a:ext cx="3429000" cy="342900"/>
          </a:xfrm>
          <a:custGeom>
            <a:avLst/>
            <a:gdLst/>
            <a:ahLst/>
            <a:cxnLst/>
            <a:rect l="l" t="t" r="r" b="b"/>
            <a:pathLst>
              <a:path w="3429000" h="342900">
                <a:moveTo>
                  <a:pt x="0" y="0"/>
                </a:moveTo>
                <a:lnTo>
                  <a:pt x="3429000" y="0"/>
                </a:lnTo>
                <a:lnTo>
                  <a:pt x="342900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33312A"/>
          </a:soli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7E611B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S06</a:t>
            </a:r>
            <a:endParaRPr lang="en-US" sz="975" spc="156" kern="0" dirty="0">
              <a:solidFill>
                <a:srgbClr val="7E611B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50020" y="471465"/>
            <a:ext cx="1955444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事例 2｜Cyberpunk 2077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64300" y="470825"/>
            <a:ext cx="2113361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CD PROJEKT RED — POLAND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800100"/>
            <a:ext cx="10363170" cy="1902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914400" y="1543050"/>
            <a:ext cx="5524530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ja-JP" altLang="en-US" sz="2250" spc="45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ポーランドの会社が、</a:t>
            </a:r>
            <a:endParaRPr lang="ja-JP" altLang="en-US" sz="2250" spc="45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  <a:p>
            <a:pPr algn="l" indent="0" marL="0">
              <a:lnSpc>
                <a:spcPts val="3300"/>
              </a:lnSpc>
              <a:buNone/>
            </a:pPr>
            <a:r>
              <a:rPr lang="ja-JP" altLang="en-US" sz="2400" spc="48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8</a:t>
            </a:r>
            <a:r>
              <a:rPr lang="ja-JP" altLang="en-US" sz="2250" spc="45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年半かけて作ったゲーム。</a:t>
            </a:r>
            <a:endParaRPr lang="ja-JP" altLang="en-US" sz="2250" spc="45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67530" y="1604955"/>
            <a:ext cx="4610130" cy="8266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775"/>
              </a:lnSpc>
              <a:buNone/>
            </a:pPr>
            <a:r>
              <a:rPr lang="ja-JP" altLang="en-US" sz="1650" spc="50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発売前の予約は、</a:t>
            </a:r>
            <a:r>
              <a:rPr lang="ja-JP" altLang="en-US" sz="1650" spc="50" kern="0" dirty="0">
                <a:solidFill>
                  <a:srgbClr val="7E611B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800万本</a:t>
            </a:r>
            <a:r>
              <a:rPr lang="ja-JP" altLang="en-US" sz="1650" spc="50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。</a:t>
            </a:r>
            <a:endParaRPr lang="ja-JP" altLang="en-US" sz="1650" spc="50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2775"/>
              </a:lnSpc>
              <a:buNone/>
            </a:pPr>
            <a:r>
              <a:rPr lang="ja-JP" altLang="en-US" sz="975" spc="29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会社発表（2020年12月）</a:t>
            </a:r>
            <a:endParaRPr lang="ja-JP" altLang="en-US" sz="975" spc="29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40005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914400" y="4186215"/>
            <a:ext cx="1676370" cy="604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ja-JP" altLang="en-US" sz="1125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サイバーパンク</a:t>
            </a:r>
            <a:endParaRPr lang="ja-JP" altLang="en-US" sz="1125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CYBERPUNK</a:t>
            </a:r>
            <a:endParaRPr lang="en-US" sz="105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62270" y="4181460"/>
            <a:ext cx="2590038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50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技術は、すごく進んだのに</a:t>
            </a:r>
            <a:endParaRPr lang="ja-JP" altLang="en-US" sz="1650" spc="50" kern="0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67130" y="4752960"/>
            <a:ext cx="2158441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50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人の暮らしは、</a:t>
            </a:r>
            <a:r>
              <a:rPr lang="ja-JP" altLang="en-US" sz="1650" spc="50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ひどい</a:t>
            </a:r>
            <a:endParaRPr lang="ja-JP" altLang="en-US" sz="1650" spc="50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10430" y="4767224"/>
            <a:ext cx="1864004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——そんな世界の話。</a:t>
            </a:r>
            <a:endParaRPr lang="ja-JP" altLang="en-US" sz="1425" spc="43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790590"/>
            <a:ext cx="420624" cy="38130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1408176" y="790590"/>
            <a:ext cx="420624" cy="38130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7E611B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S07</a:t>
            </a:r>
            <a:endParaRPr lang="en-US" sz="975" spc="156" kern="0" dirty="0">
              <a:solidFill>
                <a:srgbClr val="7E611B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50020" y="471465"/>
            <a:ext cx="298917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崩壊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634381" y="470825"/>
            <a:ext cx="643189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2020.12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914400" y="1457371"/>
            <a:ext cx="8572500" cy="943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775"/>
              </a:lnSpc>
              <a:buNone/>
            </a:pPr>
            <a:r>
              <a:rPr lang="ja-JP" altLang="en-US" sz="1725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2020</a:t>
            </a: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</a:t>
            </a:r>
            <a:r>
              <a:rPr lang="ja-JP" altLang="en-US" sz="1725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12</a:t>
            </a: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月、発売。</a:t>
            </a:r>
            <a:endParaRPr lang="ja-JP" altLang="en-US" sz="165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2775"/>
              </a:lnSpc>
              <a:spcBef>
                <a:spcPts val="750"/>
              </a:spcBef>
              <a:buNone/>
            </a:pP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バグだらけで、古いゲーム機ではまともに動かなかった。</a:t>
            </a:r>
            <a:endParaRPr lang="ja-JP" altLang="en-US" sz="165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4305270"/>
            <a:ext cx="4190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9525030" cy="12134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PlayStation ストアから、</a:t>
            </a:r>
            <a:r>
              <a:rPr lang="ja-JP" altLang="en-US" sz="3000" dirty="0">
                <a:solidFill>
                  <a:srgbClr val="7E611B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削除</a:t>
            </a: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200"/>
              </a:lnSpc>
              <a:spcBef>
                <a:spcPts val="1650"/>
              </a:spcBef>
              <a:buNone/>
            </a:pP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返金になり、ストアに戻るまで半年かかった。</a:t>
            </a:r>
            <a:endParaRPr lang="ja-JP" altLang="en-US" sz="165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1202436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7E611B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S08</a:t>
            </a:r>
            <a:endParaRPr lang="en-US" sz="975" spc="156" kern="0" dirty="0">
              <a:solidFill>
                <a:srgbClr val="7E611B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50020" y="471465"/>
            <a:ext cx="298917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復活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69150" y="470825"/>
            <a:ext cx="3908511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ja-JP" alt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CYBERPUNK: EDGERUNNERS ｜ NETFLIX / TRIGGER</a:t>
            </a:r>
            <a:endParaRPr lang="ja-JP" alt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914400" y="1276320"/>
            <a:ext cx="8572500" cy="771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ja-JP" altLang="en-US" sz="225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『サイバーパンク エッジランナーズ』</a:t>
            </a:r>
            <a:endParaRPr lang="ja-JP" altLang="en-US" sz="225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  <a:p>
            <a:pPr algn="l" indent="0" marL="0">
              <a:lnSpc>
                <a:spcPts val="315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CYBERPUNK: EDGERUNNERS</a:t>
            </a:r>
            <a:endParaRPr lang="en-US" sz="105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324130"/>
            <a:ext cx="2423526" cy="441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050" spc="42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配信</a:t>
            </a:r>
            <a:r>
              <a:rPr lang="ja-JP" altLang="en-US" sz="1010" spc="40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　</a:t>
            </a:r>
            <a:r>
              <a:rPr lang="ja-JP" altLang="en-US" sz="1500" spc="60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2022</a:t>
            </a:r>
            <a:r>
              <a:rPr lang="ja-JP" altLang="en-US" sz="1425" spc="57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</a:t>
            </a:r>
            <a:r>
              <a:rPr lang="ja-JP" altLang="en-US" sz="1500" spc="60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9</a:t>
            </a:r>
            <a:r>
              <a:rPr lang="ja-JP" altLang="en-US" sz="1425" spc="57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月 ／ Netflix</a:t>
            </a:r>
            <a:endParaRPr lang="ja-JP" altLang="en-US" sz="1425" spc="57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85637" y="2334920"/>
            <a:ext cx="9510" cy="190470"/>
          </a:xfrm>
          <a:prstGeom prst="rect">
            <a:avLst/>
          </a:prstGeom>
          <a:solidFill>
            <a:srgbClr val="DFDBD0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3842766" y="2338395"/>
            <a:ext cx="2061058" cy="421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050" spc="42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制作</a:t>
            </a:r>
            <a:r>
              <a:rPr lang="ja-JP" altLang="en-US" sz="1010" spc="40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　</a:t>
            </a:r>
            <a:r>
              <a:rPr lang="ja-JP" altLang="en-US" sz="1425" spc="57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TRIGGER（日本）</a:t>
            </a:r>
            <a:endParaRPr lang="ja-JP" altLang="en-US" sz="1425" spc="57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3067080"/>
            <a:ext cx="4190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914400" y="3457621"/>
            <a:ext cx="9525030" cy="628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アニメの中で、ゲームの宣伝は一度もない。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472443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914400" y="495303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914400" y="5019690"/>
            <a:ext cx="6096030" cy="862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ja-JP" altLang="en-US" sz="1050" dirty="0">
                <a:solidFill>
                  <a:srgbClr val="4A5D3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結果</a:t>
            </a:r>
            <a:endParaRPr lang="ja-JP" altLang="en-US" sz="1050" dirty="0">
              <a:solidFill>
                <a:srgbClr val="4A5D3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3300"/>
              </a:lnSpc>
              <a:spcBef>
                <a:spcPts val="1050"/>
              </a:spcBef>
              <a:buNone/>
            </a:pPr>
            <a:r>
              <a:rPr lang="ja-JP" altLang="en-US" sz="225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配信後、プレイヤーが</a:t>
            </a:r>
            <a:r>
              <a:rPr lang="ja-JP" altLang="en-US" sz="2250" dirty="0">
                <a:solidFill>
                  <a:srgbClr val="7E611B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戻ってきた</a:t>
            </a:r>
            <a:r>
              <a:rPr lang="ja-JP" altLang="en-US" sz="225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。</a:t>
            </a:r>
            <a:endParaRPr lang="ja-JP" altLang="en-US" sz="225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1202436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9077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2443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9117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2483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9157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25230" y="1143000"/>
            <a:ext cx="0" cy="171450"/>
          </a:xfrm>
          <a:prstGeom prst="line">
            <a:avLst/>
          </a:prstGeom>
          <a:noFill/>
          <a:ln w="14288">
            <a:solidFill>
              <a:srgbClr val="7A77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81280" y="3552810"/>
            <a:ext cx="6134070" cy="28621"/>
          </a:xfrm>
          <a:custGeom>
            <a:avLst/>
            <a:gdLst/>
            <a:ahLst/>
            <a:cxnLst/>
            <a:rect l="l" t="t" r="r" b="b"/>
            <a:pathLst>
              <a:path w="6134070" h="28621">
                <a:moveTo>
                  <a:pt x="0" y="28621"/>
                </a:moveTo>
                <a:lnTo>
                  <a:pt x="152430" y="28621"/>
                </a:lnTo>
                <a:lnTo>
                  <a:pt x="295260" y="28621"/>
                </a:lnTo>
                <a:lnTo>
                  <a:pt x="447690" y="19020"/>
                </a:lnTo>
                <a:lnTo>
                  <a:pt x="600121" y="19020"/>
                </a:lnTo>
                <a:lnTo>
                  <a:pt x="752460" y="19020"/>
                </a:lnTo>
                <a:lnTo>
                  <a:pt x="895380" y="28621"/>
                </a:lnTo>
                <a:lnTo>
                  <a:pt x="1047720" y="28621"/>
                </a:lnTo>
                <a:lnTo>
                  <a:pt x="1200150" y="28621"/>
                </a:lnTo>
                <a:lnTo>
                  <a:pt x="1343071" y="28621"/>
                </a:lnTo>
                <a:lnTo>
                  <a:pt x="1495410" y="28621"/>
                </a:lnTo>
                <a:lnTo>
                  <a:pt x="1647840" y="28621"/>
                </a:lnTo>
                <a:lnTo>
                  <a:pt x="1800271" y="28621"/>
                </a:lnTo>
                <a:lnTo>
                  <a:pt x="1943100" y="28621"/>
                </a:lnTo>
                <a:lnTo>
                  <a:pt x="2095530" y="28621"/>
                </a:lnTo>
                <a:lnTo>
                  <a:pt x="2247870" y="19020"/>
                </a:lnTo>
                <a:lnTo>
                  <a:pt x="2343150" y="19020"/>
                </a:lnTo>
                <a:lnTo>
                  <a:pt x="2390790" y="19020"/>
                </a:lnTo>
                <a:lnTo>
                  <a:pt x="2543221" y="9510"/>
                </a:lnTo>
                <a:lnTo>
                  <a:pt x="2695560" y="9510"/>
                </a:lnTo>
                <a:lnTo>
                  <a:pt x="2838480" y="9510"/>
                </a:lnTo>
                <a:lnTo>
                  <a:pt x="2990820" y="9510"/>
                </a:lnTo>
                <a:lnTo>
                  <a:pt x="3143250" y="9510"/>
                </a:lnTo>
                <a:lnTo>
                  <a:pt x="3295680" y="9510"/>
                </a:lnTo>
                <a:lnTo>
                  <a:pt x="3438510" y="9510"/>
                </a:lnTo>
                <a:lnTo>
                  <a:pt x="3590940" y="19020"/>
                </a:lnTo>
                <a:lnTo>
                  <a:pt x="3743371" y="19020"/>
                </a:lnTo>
                <a:lnTo>
                  <a:pt x="3886200" y="19020"/>
                </a:lnTo>
                <a:lnTo>
                  <a:pt x="4038630" y="19020"/>
                </a:lnTo>
                <a:lnTo>
                  <a:pt x="4190970" y="19020"/>
                </a:lnTo>
                <a:lnTo>
                  <a:pt x="4343400" y="19020"/>
                </a:lnTo>
                <a:lnTo>
                  <a:pt x="4486321" y="9510"/>
                </a:lnTo>
                <a:lnTo>
                  <a:pt x="4629150" y="9510"/>
                </a:lnTo>
                <a:lnTo>
                  <a:pt x="4638660" y="9510"/>
                </a:lnTo>
                <a:lnTo>
                  <a:pt x="4791090" y="9510"/>
                </a:lnTo>
                <a:lnTo>
                  <a:pt x="4933920" y="0"/>
                </a:lnTo>
                <a:lnTo>
                  <a:pt x="5086350" y="0"/>
                </a:lnTo>
                <a:lnTo>
                  <a:pt x="5238780" y="9510"/>
                </a:lnTo>
                <a:lnTo>
                  <a:pt x="5381610" y="9510"/>
                </a:lnTo>
                <a:lnTo>
                  <a:pt x="5534040" y="9510"/>
                </a:lnTo>
                <a:lnTo>
                  <a:pt x="5686471" y="9510"/>
                </a:lnTo>
                <a:lnTo>
                  <a:pt x="5838810" y="9510"/>
                </a:lnTo>
                <a:lnTo>
                  <a:pt x="5981730" y="9510"/>
                </a:lnTo>
                <a:lnTo>
                  <a:pt x="6134070" y="0"/>
                </a:lnTo>
              </a:path>
            </a:pathLst>
          </a:custGeom>
          <a:noFill/>
          <a:ln w="19050">
            <a:solidFill>
              <a:srgbClr val="7A77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15350" y="2809860"/>
            <a:ext cx="2762220" cy="742950"/>
          </a:xfrm>
          <a:custGeom>
            <a:avLst/>
            <a:gdLst/>
            <a:ahLst/>
            <a:cxnLst/>
            <a:rect l="l" t="t" r="r" b="b"/>
            <a:pathLst>
              <a:path w="2762220" h="742950">
                <a:moveTo>
                  <a:pt x="0" y="742950"/>
                </a:moveTo>
                <a:lnTo>
                  <a:pt x="123810" y="657271"/>
                </a:lnTo>
                <a:lnTo>
                  <a:pt x="219090" y="542971"/>
                </a:lnTo>
                <a:lnTo>
                  <a:pt x="314371" y="419070"/>
                </a:lnTo>
                <a:lnTo>
                  <a:pt x="400050" y="295260"/>
                </a:lnTo>
                <a:lnTo>
                  <a:pt x="485821" y="171450"/>
                </a:lnTo>
                <a:lnTo>
                  <a:pt x="571500" y="85771"/>
                </a:lnTo>
                <a:lnTo>
                  <a:pt x="590520" y="66660"/>
                </a:lnTo>
                <a:lnTo>
                  <a:pt x="723930" y="0"/>
                </a:lnTo>
                <a:lnTo>
                  <a:pt x="876270" y="0"/>
                </a:lnTo>
                <a:lnTo>
                  <a:pt x="1019190" y="38130"/>
                </a:lnTo>
                <a:lnTo>
                  <a:pt x="1162020" y="85771"/>
                </a:lnTo>
                <a:lnTo>
                  <a:pt x="1304940" y="133320"/>
                </a:lnTo>
                <a:lnTo>
                  <a:pt x="1457371" y="180960"/>
                </a:lnTo>
                <a:lnTo>
                  <a:pt x="1600200" y="228600"/>
                </a:lnTo>
                <a:lnTo>
                  <a:pt x="1743121" y="276240"/>
                </a:lnTo>
                <a:lnTo>
                  <a:pt x="1885950" y="314371"/>
                </a:lnTo>
                <a:lnTo>
                  <a:pt x="2028871" y="352410"/>
                </a:lnTo>
                <a:lnTo>
                  <a:pt x="2181210" y="390540"/>
                </a:lnTo>
                <a:lnTo>
                  <a:pt x="2305020" y="419070"/>
                </a:lnTo>
                <a:lnTo>
                  <a:pt x="2324130" y="419070"/>
                </a:lnTo>
                <a:lnTo>
                  <a:pt x="2476470" y="438180"/>
                </a:lnTo>
                <a:lnTo>
                  <a:pt x="2628900" y="447690"/>
                </a:lnTo>
                <a:lnTo>
                  <a:pt x="2762220" y="457200"/>
                </a:lnTo>
                <a:lnTo>
                  <a:pt x="2762220" y="476220"/>
                </a:lnTo>
                <a:lnTo>
                  <a:pt x="2762220" y="628650"/>
                </a:lnTo>
                <a:lnTo>
                  <a:pt x="2762220" y="742950"/>
                </a:lnTo>
                <a:lnTo>
                  <a:pt x="2724180" y="742950"/>
                </a:lnTo>
                <a:lnTo>
                  <a:pt x="2571750" y="742950"/>
                </a:lnTo>
                <a:lnTo>
                  <a:pt x="2419320" y="742950"/>
                </a:lnTo>
                <a:lnTo>
                  <a:pt x="2276490" y="742950"/>
                </a:lnTo>
                <a:lnTo>
                  <a:pt x="2124060" y="742950"/>
                </a:lnTo>
                <a:lnTo>
                  <a:pt x="1971721" y="742950"/>
                </a:lnTo>
                <a:lnTo>
                  <a:pt x="1819290" y="742950"/>
                </a:lnTo>
                <a:lnTo>
                  <a:pt x="1666860" y="742950"/>
                </a:lnTo>
                <a:lnTo>
                  <a:pt x="1514521" y="742950"/>
                </a:lnTo>
                <a:lnTo>
                  <a:pt x="1362090" y="742950"/>
                </a:lnTo>
                <a:lnTo>
                  <a:pt x="1209660" y="742950"/>
                </a:lnTo>
                <a:lnTo>
                  <a:pt x="1057321" y="742950"/>
                </a:lnTo>
                <a:lnTo>
                  <a:pt x="904890" y="742950"/>
                </a:lnTo>
                <a:lnTo>
                  <a:pt x="761970" y="742950"/>
                </a:lnTo>
                <a:lnTo>
                  <a:pt x="609630" y="742950"/>
                </a:lnTo>
                <a:lnTo>
                  <a:pt x="457200" y="742950"/>
                </a:lnTo>
                <a:lnTo>
                  <a:pt x="304770" y="742950"/>
                </a:lnTo>
                <a:lnTo>
                  <a:pt x="15243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7E611B">
              <a:alpha val="10000"/>
            </a:srgbClr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8515350" y="2809860"/>
            <a:ext cx="2762220" cy="742950"/>
          </a:xfrm>
          <a:custGeom>
            <a:avLst/>
            <a:gdLst/>
            <a:ahLst/>
            <a:cxnLst/>
            <a:rect l="l" t="t" r="r" b="b"/>
            <a:pathLst>
              <a:path w="2762220" h="742950">
                <a:moveTo>
                  <a:pt x="0" y="742950"/>
                </a:moveTo>
                <a:lnTo>
                  <a:pt x="123810" y="666780"/>
                </a:lnTo>
                <a:lnTo>
                  <a:pt x="219090" y="542971"/>
                </a:lnTo>
                <a:lnTo>
                  <a:pt x="304770" y="428671"/>
                </a:lnTo>
                <a:lnTo>
                  <a:pt x="390540" y="295260"/>
                </a:lnTo>
                <a:lnTo>
                  <a:pt x="485821" y="180960"/>
                </a:lnTo>
                <a:lnTo>
                  <a:pt x="571500" y="85771"/>
                </a:lnTo>
                <a:lnTo>
                  <a:pt x="590520" y="66660"/>
                </a:lnTo>
                <a:lnTo>
                  <a:pt x="714421" y="0"/>
                </a:lnTo>
                <a:lnTo>
                  <a:pt x="866760" y="0"/>
                </a:lnTo>
                <a:lnTo>
                  <a:pt x="876270" y="0"/>
                </a:lnTo>
                <a:lnTo>
                  <a:pt x="1009680" y="38130"/>
                </a:lnTo>
                <a:lnTo>
                  <a:pt x="1152510" y="85771"/>
                </a:lnTo>
                <a:lnTo>
                  <a:pt x="1295430" y="133320"/>
                </a:lnTo>
                <a:lnTo>
                  <a:pt x="1438260" y="180960"/>
                </a:lnTo>
                <a:lnTo>
                  <a:pt x="1581180" y="228600"/>
                </a:lnTo>
                <a:lnTo>
                  <a:pt x="1733520" y="266730"/>
                </a:lnTo>
                <a:lnTo>
                  <a:pt x="1876440" y="314371"/>
                </a:lnTo>
                <a:lnTo>
                  <a:pt x="2019270" y="352410"/>
                </a:lnTo>
                <a:lnTo>
                  <a:pt x="2162190" y="390540"/>
                </a:lnTo>
                <a:lnTo>
                  <a:pt x="2305020" y="419070"/>
                </a:lnTo>
                <a:lnTo>
                  <a:pt x="2314621" y="419070"/>
                </a:lnTo>
                <a:lnTo>
                  <a:pt x="2457450" y="428671"/>
                </a:lnTo>
                <a:lnTo>
                  <a:pt x="2609880" y="447690"/>
                </a:lnTo>
                <a:lnTo>
                  <a:pt x="2762220" y="457200"/>
                </a:lnTo>
              </a:path>
            </a:pathLst>
          </a:custGeom>
          <a:noFill/>
          <a:ln w="23813">
            <a:solidFill>
              <a:srgbClr val="7E61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5350" y="1066830"/>
            <a:ext cx="0" cy="2628900"/>
          </a:xfrm>
          <a:prstGeom prst="line">
            <a:avLst/>
          </a:prstGeom>
          <a:noFill/>
          <a:ln w="28575">
            <a:solidFill>
              <a:srgbClr val="7E61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2955" y="2033626"/>
            <a:ext cx="104790" cy="104790"/>
          </a:xfrm>
          <a:prstGeom prst="ellipse">
            <a:avLst/>
          </a:prstGeom>
          <a:solidFill>
            <a:srgbClr val="7E611B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8591520" y="2086021"/>
            <a:ext cx="190470" cy="0"/>
          </a:xfrm>
          <a:prstGeom prst="line">
            <a:avLst/>
          </a:prstGeom>
          <a:noFill/>
          <a:ln w="14288">
            <a:solidFill>
              <a:srgbClr val="7E61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15550" y="5829300"/>
            <a:ext cx="1019190" cy="247620"/>
          </a:xfrm>
          <a:custGeom>
            <a:avLst/>
            <a:gdLst/>
            <a:ahLst/>
            <a:cxnLst/>
            <a:rect l="l" t="t" r="r" b="b"/>
            <a:pathLst>
              <a:path w="1019190" h="247620">
                <a:moveTo>
                  <a:pt x="0" y="0"/>
                </a:moveTo>
                <a:lnTo>
                  <a:pt x="1019190" y="0"/>
                </a:lnTo>
                <a:lnTo>
                  <a:pt x="1019190" y="247620"/>
                </a:lnTo>
                <a:lnTo>
                  <a:pt x="0" y="2476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10830" y="5886450"/>
            <a:ext cx="95280" cy="133320"/>
          </a:xfrm>
          <a:custGeom>
            <a:avLst/>
            <a:gdLst/>
            <a:ahLst/>
            <a:cxnLst/>
            <a:rect l="l" t="t" r="r" b="b"/>
            <a:pathLst>
              <a:path w="95280" h="133320">
                <a:moveTo>
                  <a:pt x="0" y="0"/>
                </a:moveTo>
                <a:lnTo>
                  <a:pt x="95280" y="0"/>
                </a:lnTo>
                <a:lnTo>
                  <a:pt x="95280" y="133320"/>
                </a:lnTo>
                <a:lnTo>
                  <a:pt x="0" y="1333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9360" y="5886450"/>
            <a:ext cx="0" cy="133320"/>
          </a:xfrm>
          <a:prstGeom prst="line">
            <a:avLst/>
          </a:pr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7E611B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S09</a:t>
            </a:r>
            <a:endParaRPr lang="en-US" sz="975" spc="156" kern="0" dirty="0">
              <a:solidFill>
                <a:srgbClr val="7E611B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50020" y="471465"/>
            <a:ext cx="1045525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なぜ跳ねたのか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29122" y="470825"/>
            <a:ext cx="2848447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CYBERPUNK 2077 — CD PROJEKT RED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914400" y="1038210"/>
            <a:ext cx="1238280" cy="63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ja-JP" altLang="en-US" sz="1425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技術</a:t>
            </a:r>
            <a:endParaRPr lang="ja-JP" altLang="en-US" sz="1425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  <a:p>
            <a:pPr algn="l" indent="0" marL="0">
              <a:lnSpc>
                <a:spcPts val="2175"/>
              </a:lnSpc>
              <a:spcBef>
                <a:spcPts val="375"/>
              </a:spcBef>
              <a:buNone/>
            </a:pPr>
            <a:r>
              <a:rPr lang="ja-JP" altLang="en-US" sz="1050" dirty="0">
                <a:solidFill>
                  <a:srgbClr val="6E6B6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修正パッチ</a:t>
            </a:r>
            <a:endParaRPr lang="ja-JP" altLang="en-US" sz="1050" dirty="0">
              <a:solidFill>
                <a:srgbClr val="6E6B6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" y="1781160"/>
            <a:ext cx="1238280" cy="63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ja-JP" altLang="en-US" sz="1425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endParaRPr lang="ja-JP" altLang="en-US" sz="1425" dirty="0">
              <a:solidFill>
                <a:srgbClr val="4A5D3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  <a:p>
            <a:pPr algn="l" indent="0" marL="0">
              <a:lnSpc>
                <a:spcPts val="2175"/>
              </a:lnSpc>
              <a:spcBef>
                <a:spcPts val="375"/>
              </a:spcBef>
              <a:buNone/>
            </a:pPr>
            <a:r>
              <a:rPr lang="ja-JP" altLang="en-US" sz="1050" dirty="0">
                <a:solidFill>
                  <a:srgbClr val="6E6B6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アニメ</a:t>
            </a:r>
            <a:endParaRPr lang="ja-JP" altLang="en-US" sz="1050" dirty="0">
              <a:solidFill>
                <a:srgbClr val="6E6B6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2828971"/>
            <a:ext cx="1238280" cy="63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ja-JP" altLang="en-US" sz="1425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結果</a:t>
            </a:r>
            <a:endParaRPr lang="ja-JP" altLang="en-US" sz="1425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  <a:p>
            <a:pPr algn="l" indent="0" marL="0">
              <a:lnSpc>
                <a:spcPts val="2175"/>
              </a:lnSpc>
              <a:spcBef>
                <a:spcPts val="375"/>
              </a:spcBef>
              <a:buNone/>
            </a:pPr>
            <a:r>
              <a:rPr lang="ja-JP" altLang="en-US" sz="1050" dirty="0">
                <a:solidFill>
                  <a:srgbClr val="6E6B6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遊んだ人の数</a:t>
            </a:r>
            <a:endParaRPr lang="ja-JP" altLang="en-US" sz="1050" dirty="0">
              <a:solidFill>
                <a:srgbClr val="6E6B6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19520" y="1690726"/>
            <a:ext cx="434340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サイバーパンク エッジランナーズ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57950" y="2274296"/>
            <a:ext cx="1904970" cy="3286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lnSpc>
                <a:spcPts val="1310"/>
              </a:lnSpc>
              <a:buNone/>
            </a:pPr>
            <a:r>
              <a:rPr lang="en-US" sz="1125" spc="90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2022.09</a:t>
            </a:r>
            <a:endParaRPr lang="en-US" sz="1125" spc="90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381280" y="3817346"/>
            <a:ext cx="412760" cy="3286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125" spc="135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2022</a:t>
            </a:r>
            <a:endParaRPr lang="en-US" sz="1125" spc="135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81380" y="3843315"/>
            <a:ext cx="4000500" cy="36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dirty="0">
                <a:solidFill>
                  <a:srgbClr val="6E6B6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それより前の山は、図の外</a:t>
            </a:r>
            <a:endParaRPr lang="ja-JP" altLang="en-US" sz="1050" dirty="0">
              <a:solidFill>
                <a:srgbClr val="6E6B6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20070" y="3824295"/>
            <a:ext cx="2857500" cy="357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lnSpc>
                <a:spcPts val="1125"/>
              </a:lnSpc>
              <a:buNone/>
            </a:pPr>
            <a:r>
              <a:rPr lang="ja-JP" altLang="en-US" sz="1125" spc="34" kern="0" dirty="0">
                <a:solidFill>
                  <a:srgbClr val="1B1A16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直前3か月の約7倍</a:t>
            </a:r>
            <a:endParaRPr lang="ja-JP" altLang="en-US" sz="1125" spc="34" kern="0" dirty="0">
              <a:solidFill>
                <a:srgbClr val="1B1A16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4400" y="4243365"/>
            <a:ext cx="3065526" cy="3542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21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Steam で同時に遊んだ人の数。線の形は模式図。</a:t>
            </a:r>
            <a:endParaRPr lang="ja-JP" altLang="en-US" sz="1050" spc="21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455298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914400" y="468630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914400" y="4833976"/>
            <a:ext cx="6000750" cy="3333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89" kern="0" dirty="0">
                <a:solidFill>
                  <a:srgbClr val="4A5D3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結論</a:t>
            </a:r>
            <a:endParaRPr lang="ja-JP" altLang="en-US" sz="1050" spc="189" kern="0" dirty="0">
              <a:solidFill>
                <a:srgbClr val="4A5D3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14400" y="5076840"/>
            <a:ext cx="6000750" cy="1181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ja-JP" altLang="en-US" sz="3000" spc="120" kern="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足りなかったのは技術ではなく、</a:t>
            </a:r>
            <a:endParaRPr lang="ja-JP" altLang="en-US" sz="3000" spc="120" kern="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200"/>
              </a:lnSpc>
              <a:buNone/>
            </a:pPr>
            <a:r>
              <a:rPr lang="ja-JP" altLang="en-US" sz="3000" spc="120" kern="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新しい</a:t>
            </a:r>
            <a:r>
              <a:rPr lang="ja-JP" altLang="en-US" sz="3000" spc="120" kern="0" dirty="0">
                <a:solidFill>
                  <a:srgbClr val="4A5D3A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物語</a:t>
            </a:r>
            <a:r>
              <a:rPr lang="ja-JP" altLang="en-US" sz="3000" spc="120" kern="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だった。</a:t>
            </a:r>
            <a:endParaRPr lang="ja-JP" altLang="en-US" sz="3000" spc="120" kern="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391790" y="5875477"/>
            <a:ext cx="674096" cy="36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HOLT 03</a:t>
            </a:r>
            <a:endParaRPr lang="en-US" sz="1050" spc="12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14400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1202436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FAF9F5"/>
          </a:solidFill>
          <a:ln w="14288">
            <a:solidFill>
              <a:srgbClr val="333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9170" y="243843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4A5D3A">
              <a:alpha val="10000"/>
            </a:srgbClr>
          </a:solidFill>
          <a:ln w="19050">
            <a:solidFill>
              <a:srgbClr val="4A5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4030" y="304797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33312A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7315200" y="2362170"/>
            <a:ext cx="110487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7924830" y="3047970"/>
            <a:ext cx="49533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8305770" y="2381280"/>
            <a:ext cx="0" cy="64767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371771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038460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7E611B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S10</a:t>
            </a:r>
            <a:endParaRPr lang="en-US" sz="975" spc="156" kern="0" dirty="0">
              <a:solidFill>
                <a:srgbClr val="7E611B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50020" y="471465"/>
            <a:ext cx="1227582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Cyberpunk の絵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04814" y="470825"/>
            <a:ext cx="2572756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CYBERPUNK: EDGERUNNERS, 2022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914400" y="1247790"/>
            <a:ext cx="8572500" cy="459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500" spc="45" kern="0" dirty="0">
                <a:solidFill>
                  <a:srgbClr val="5C5A50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2022</a:t>
            </a:r>
            <a:r>
              <a:rPr lang="ja-JP" altLang="en-US" sz="1425" spc="43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年、アニメ配信のあと。</a:t>
            </a:r>
            <a:endParaRPr lang="ja-JP" altLang="en-US" sz="1425" spc="43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870" y="2086021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建前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38430" y="1952610"/>
            <a:ext cx="2331811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頑張れば報われる</a:t>
            </a:r>
            <a:endParaRPr lang="ja-JP" altLang="en-US" sz="2250" spc="45" kern="0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09730" y="2662276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endParaRPr lang="ja-JP" altLang="en-US" sz="1125" dirty="0">
              <a:solidFill>
                <a:srgbClr val="4A5D3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71650" y="2656058"/>
            <a:ext cx="48152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STORY</a:t>
            </a:r>
            <a:endParaRPr lang="en-US" sz="1050" spc="126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438430" y="2600371"/>
            <a:ext cx="2577602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50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駆け上がり、そして壊れる</a:t>
            </a:r>
            <a:endParaRPr lang="ja-JP" altLang="en-US" sz="1650" spc="50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14500" y="3305190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DFDBD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実感</a:t>
            </a:r>
            <a:endParaRPr lang="ja-JP" altLang="en-US" sz="1125" spc="158" kern="0" dirty="0">
              <a:solidFill>
                <a:srgbClr val="DFDBD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38430" y="3171871"/>
            <a:ext cx="2614635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社会は、人をつぶす</a:t>
            </a:r>
            <a:endParaRPr lang="ja-JP" altLang="en-US" sz="2250" spc="45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96330" y="2633655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ズレ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40005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914400" y="426723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914400" y="4372021"/>
            <a:ext cx="10363170" cy="1727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売っていたのは、ゲームではなく、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35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「駆け上がり、</a:t>
            </a:r>
            <a:r>
              <a:rPr lang="ja-JP" altLang="en-US" sz="3000" dirty="0">
                <a:solidFill>
                  <a:srgbClr val="7E611B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壊れる</a:t>
            </a: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人の話」。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1050"/>
              </a:spcBef>
              <a:buNone/>
            </a:pP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本に書いてあったことが、そのまま起きた。</a:t>
            </a:r>
            <a:endParaRPr lang="ja-JP" altLang="en-US" sz="165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1202436" y="790590"/>
            <a:ext cx="245334" cy="28621"/>
          </a:xfrm>
          <a:prstGeom prst="rect">
            <a:avLst/>
          </a:prstGeom>
          <a:solidFill>
            <a:srgbClr val="7E611B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1430" y="6000750"/>
            <a:ext cx="5143500" cy="0"/>
          </a:xfrm>
          <a:prstGeom prst="line">
            <a:avLst/>
          </a:prstGeom>
          <a:noFill/>
          <a:ln w="14288">
            <a:solidFill>
              <a:srgbClr val="333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24930" y="6000750"/>
            <a:ext cx="2552730" cy="0"/>
          </a:xfrm>
          <a:prstGeom prst="line">
            <a:avLst/>
          </a:prstGeom>
          <a:noFill/>
          <a:ln w="14288">
            <a:solidFill>
              <a:srgbClr val="C9C4B8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3533790" y="5953110"/>
            <a:ext cx="95280" cy="95280"/>
          </a:xfrm>
          <a:prstGeom prst="ellipse">
            <a:avLst/>
          </a:prstGeom>
          <a:solidFill>
            <a:srgbClr val="33312A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6105540" y="5953110"/>
            <a:ext cx="95280" cy="95280"/>
          </a:xfrm>
          <a:prstGeom prst="ellipse">
            <a:avLst/>
          </a:prstGeom>
          <a:solidFill>
            <a:srgbClr val="33312A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8658271" y="5934090"/>
            <a:ext cx="133320" cy="133320"/>
          </a:xfrm>
          <a:custGeom>
            <a:avLst/>
            <a:gdLst/>
            <a:ahLst/>
            <a:cxnLst/>
            <a:rect l="l" t="t" r="r" b="b"/>
            <a:pathLst>
              <a:path w="133320" h="133320">
                <a:moveTo>
                  <a:pt x="133320" y="66660"/>
                </a:moveTo>
                <a:lnTo>
                  <a:pt x="133320" y="76170"/>
                </a:lnTo>
                <a:lnTo>
                  <a:pt x="133320" y="85771"/>
                </a:lnTo>
                <a:lnTo>
                  <a:pt x="123810" y="104790"/>
                </a:lnTo>
                <a:lnTo>
                  <a:pt x="114300" y="104790"/>
                </a:lnTo>
                <a:lnTo>
                  <a:pt x="104790" y="114300"/>
                </a:lnTo>
                <a:lnTo>
                  <a:pt x="104790" y="123810"/>
                </a:lnTo>
                <a:lnTo>
                  <a:pt x="85771" y="133320"/>
                </a:lnTo>
                <a:lnTo>
                  <a:pt x="76170" y="133320"/>
                </a:lnTo>
                <a:lnTo>
                  <a:pt x="66660" y="133320"/>
                </a:lnTo>
                <a:lnTo>
                  <a:pt x="57150" y="133320"/>
                </a:lnTo>
                <a:lnTo>
                  <a:pt x="47640" y="133320"/>
                </a:lnTo>
                <a:lnTo>
                  <a:pt x="38130" y="123810"/>
                </a:lnTo>
                <a:lnTo>
                  <a:pt x="28621" y="114300"/>
                </a:lnTo>
                <a:lnTo>
                  <a:pt x="19020" y="104790"/>
                </a:lnTo>
                <a:lnTo>
                  <a:pt x="9510" y="104790"/>
                </a:lnTo>
                <a:lnTo>
                  <a:pt x="0" y="85771"/>
                </a:lnTo>
                <a:lnTo>
                  <a:pt x="0" y="76170"/>
                </a:lnTo>
                <a:lnTo>
                  <a:pt x="0" y="66660"/>
                </a:lnTo>
                <a:lnTo>
                  <a:pt x="0" y="57150"/>
                </a:lnTo>
                <a:lnTo>
                  <a:pt x="0" y="47640"/>
                </a:lnTo>
                <a:lnTo>
                  <a:pt x="9510" y="38130"/>
                </a:lnTo>
                <a:lnTo>
                  <a:pt x="19020" y="28621"/>
                </a:lnTo>
                <a:lnTo>
                  <a:pt x="28621" y="19020"/>
                </a:lnTo>
                <a:lnTo>
                  <a:pt x="38130" y="9510"/>
                </a:lnTo>
                <a:lnTo>
                  <a:pt x="47640" y="0"/>
                </a:lnTo>
                <a:lnTo>
                  <a:pt x="57150" y="0"/>
                </a:lnTo>
                <a:lnTo>
                  <a:pt x="66660" y="0"/>
                </a:lnTo>
                <a:lnTo>
                  <a:pt x="76170" y="0"/>
                </a:lnTo>
                <a:lnTo>
                  <a:pt x="85771" y="0"/>
                </a:lnTo>
                <a:lnTo>
                  <a:pt x="104790" y="9510"/>
                </a:lnTo>
                <a:lnTo>
                  <a:pt x="104790" y="19020"/>
                </a:lnTo>
                <a:lnTo>
                  <a:pt x="114300" y="28621"/>
                </a:lnTo>
                <a:lnTo>
                  <a:pt x="123810" y="38130"/>
                </a:lnTo>
                <a:lnTo>
                  <a:pt x="133320" y="47640"/>
                </a:lnTo>
                <a:lnTo>
                  <a:pt x="133320" y="57150"/>
                </a:lnTo>
                <a:lnTo>
                  <a:pt x="133320" y="66660"/>
                </a:lnTo>
                <a:close/>
              </a:path>
            </a:pathLst>
          </a:custGeom>
          <a:solidFill>
            <a:srgbClr val="FAF9F5"/>
          </a:solidFill>
          <a:ln w="19050">
            <a:solidFill>
              <a:srgbClr val="2A6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2A6B72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S11</a:t>
            </a:r>
            <a:endParaRPr lang="en-US" sz="975" spc="156" kern="0" dirty="0">
              <a:solidFill>
                <a:srgbClr val="2A6B72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50020" y="471465"/>
            <a:ext cx="910834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事例 3｜原神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12825" y="470825"/>
            <a:ext cx="2664836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GENSHIN IMPACT — miHoYo, 2020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800100"/>
            <a:ext cx="10363170" cy="1902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914400" y="1609710"/>
            <a:ext cx="8572500" cy="666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伝統を、世界で遊ばれる</a:t>
            </a:r>
            <a:r>
              <a:rPr lang="ja-JP" altLang="en-US" sz="3000" spc="60" kern="0" dirty="0">
                <a:solidFill>
                  <a:srgbClr val="4A5D3A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物語</a:t>
            </a: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にした会社。</a:t>
            </a:r>
            <a:endParaRPr lang="ja-JP" altLang="en-US" sz="3000" spc="60" kern="0" dirty="0">
              <a:solidFill>
                <a:srgbClr val="1B1A16"/>
              </a:solidFill>
              <a:latin typeface="Hiragino Mincho ProN W3" pitchFamily="34" charset="0"/>
              <a:ea typeface="Hiragino Mincho ProN W3" pitchFamily="34" charset="-122"/>
              <a:cs typeface="Hiragino Mincho ProN W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619390"/>
            <a:ext cx="10363170" cy="459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中国の </a:t>
            </a:r>
            <a:r>
              <a:rPr lang="ja-JP" altLang="en-US" sz="150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miHoYo</a:t>
            </a: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 が、</a:t>
            </a:r>
            <a:r>
              <a:rPr lang="ja-JP" altLang="en-US" sz="150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2020</a:t>
            </a: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年に出したアニメ調のゲーム。</a:t>
            </a:r>
            <a:endParaRPr lang="ja-JP" altLang="en-US" sz="1425" spc="43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81430" y="5713628"/>
            <a:ext cx="353233" cy="2667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63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1985</a:t>
            </a:r>
            <a:endParaRPr lang="en-US" sz="1050" spc="63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53180" y="5713628"/>
            <a:ext cx="353233" cy="2667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63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2020</a:t>
            </a:r>
            <a:endParaRPr lang="en-US" sz="1050" spc="63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24930" y="5713628"/>
            <a:ext cx="353233" cy="2667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63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2020</a:t>
            </a:r>
            <a:endParaRPr lang="en-US" sz="1050" spc="63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1430" y="6138824"/>
            <a:ext cx="598749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68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アメリカ</a:t>
            </a:r>
            <a:endParaRPr lang="ja-JP" altLang="en-US" sz="1125" spc="68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53180" y="6138824"/>
            <a:ext cx="753008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68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ポーランド</a:t>
            </a:r>
            <a:endParaRPr lang="ja-JP" altLang="en-US" sz="1125" spc="68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24930" y="6138824"/>
            <a:ext cx="303032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68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中国</a:t>
            </a:r>
            <a:endParaRPr lang="ja-JP" altLang="en-US" sz="1125" spc="68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790590"/>
            <a:ext cx="265176" cy="38130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1239012" y="790590"/>
            <a:ext cx="265176" cy="38130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1563624" y="790590"/>
            <a:ext cx="265176" cy="38130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58471" y="1676370"/>
            <a:ext cx="1019190" cy="247620"/>
          </a:xfrm>
          <a:custGeom>
            <a:avLst/>
            <a:gdLst/>
            <a:ahLst/>
            <a:cxnLst/>
            <a:rect l="l" t="t" r="r" b="b"/>
            <a:pathLst>
              <a:path w="1019190" h="247620">
                <a:moveTo>
                  <a:pt x="0" y="0"/>
                </a:moveTo>
                <a:lnTo>
                  <a:pt x="1019190" y="0"/>
                </a:lnTo>
                <a:lnTo>
                  <a:pt x="1019190" y="247620"/>
                </a:lnTo>
                <a:lnTo>
                  <a:pt x="0" y="2476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3660" y="1733520"/>
            <a:ext cx="95280" cy="133320"/>
          </a:xfrm>
          <a:custGeom>
            <a:avLst/>
            <a:gdLst/>
            <a:ahLst/>
            <a:cxnLst/>
            <a:rect l="l" t="t" r="r" b="b"/>
            <a:pathLst>
              <a:path w="95280" h="133320">
                <a:moveTo>
                  <a:pt x="0" y="0"/>
                </a:moveTo>
                <a:lnTo>
                  <a:pt x="95280" y="0"/>
                </a:lnTo>
                <a:lnTo>
                  <a:pt x="95280" y="133320"/>
                </a:lnTo>
                <a:lnTo>
                  <a:pt x="0" y="1333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2771" y="1733520"/>
            <a:ext cx="0" cy="133320"/>
          </a:xfrm>
          <a:prstGeom prst="line">
            <a:avLst/>
          </a:pr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210080"/>
            <a:ext cx="6896130" cy="0"/>
          </a:xfrm>
          <a:prstGeom prst="line">
            <a:avLst/>
          </a:prstGeom>
          <a:noFill/>
          <a:ln w="14288">
            <a:solidFill>
              <a:srgbClr val="3331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0530" y="4210080"/>
            <a:ext cx="3467130" cy="0"/>
          </a:xfrm>
          <a:prstGeom prst="line">
            <a:avLst/>
          </a:prstGeom>
          <a:noFill/>
          <a:ln w="14288">
            <a:solidFill>
              <a:srgbClr val="C9C4B8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866760" y="4162440"/>
            <a:ext cx="95280" cy="95280"/>
          </a:xfrm>
          <a:prstGeom prst="ellipse">
            <a:avLst/>
          </a:prstGeom>
          <a:solidFill>
            <a:srgbClr val="33312A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4314871" y="4162440"/>
            <a:ext cx="95280" cy="95280"/>
          </a:xfrm>
          <a:prstGeom prst="ellipse">
            <a:avLst/>
          </a:prstGeom>
          <a:solidFill>
            <a:srgbClr val="33312A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743871" y="4143421"/>
            <a:ext cx="133320" cy="133320"/>
          </a:xfrm>
          <a:custGeom>
            <a:avLst/>
            <a:gdLst/>
            <a:ahLst/>
            <a:cxnLst/>
            <a:rect l="l" t="t" r="r" b="b"/>
            <a:pathLst>
              <a:path w="133320" h="133320">
                <a:moveTo>
                  <a:pt x="133320" y="66660"/>
                </a:moveTo>
                <a:lnTo>
                  <a:pt x="133320" y="76170"/>
                </a:lnTo>
                <a:lnTo>
                  <a:pt x="133320" y="85771"/>
                </a:lnTo>
                <a:lnTo>
                  <a:pt x="123810" y="104790"/>
                </a:lnTo>
                <a:lnTo>
                  <a:pt x="114300" y="104790"/>
                </a:lnTo>
                <a:lnTo>
                  <a:pt x="104790" y="114300"/>
                </a:lnTo>
                <a:lnTo>
                  <a:pt x="104790" y="123810"/>
                </a:lnTo>
                <a:lnTo>
                  <a:pt x="85771" y="133320"/>
                </a:lnTo>
                <a:lnTo>
                  <a:pt x="76170" y="133320"/>
                </a:lnTo>
                <a:lnTo>
                  <a:pt x="66660" y="133320"/>
                </a:lnTo>
                <a:lnTo>
                  <a:pt x="57150" y="133320"/>
                </a:lnTo>
                <a:lnTo>
                  <a:pt x="47640" y="133320"/>
                </a:lnTo>
                <a:lnTo>
                  <a:pt x="38130" y="123810"/>
                </a:lnTo>
                <a:lnTo>
                  <a:pt x="28621" y="114300"/>
                </a:lnTo>
                <a:lnTo>
                  <a:pt x="19020" y="104790"/>
                </a:lnTo>
                <a:lnTo>
                  <a:pt x="9510" y="104790"/>
                </a:lnTo>
                <a:lnTo>
                  <a:pt x="0" y="85771"/>
                </a:lnTo>
                <a:lnTo>
                  <a:pt x="0" y="76170"/>
                </a:lnTo>
                <a:lnTo>
                  <a:pt x="0" y="66660"/>
                </a:lnTo>
                <a:lnTo>
                  <a:pt x="0" y="57150"/>
                </a:lnTo>
                <a:lnTo>
                  <a:pt x="0" y="47640"/>
                </a:lnTo>
                <a:lnTo>
                  <a:pt x="9510" y="38130"/>
                </a:lnTo>
                <a:lnTo>
                  <a:pt x="19020" y="28621"/>
                </a:lnTo>
                <a:lnTo>
                  <a:pt x="28621" y="19020"/>
                </a:lnTo>
                <a:lnTo>
                  <a:pt x="38130" y="9510"/>
                </a:lnTo>
                <a:lnTo>
                  <a:pt x="47640" y="0"/>
                </a:lnTo>
                <a:lnTo>
                  <a:pt x="57150" y="0"/>
                </a:lnTo>
                <a:lnTo>
                  <a:pt x="66660" y="0"/>
                </a:lnTo>
                <a:lnTo>
                  <a:pt x="76170" y="0"/>
                </a:lnTo>
                <a:lnTo>
                  <a:pt x="85771" y="0"/>
                </a:lnTo>
                <a:lnTo>
                  <a:pt x="104790" y="9510"/>
                </a:lnTo>
                <a:lnTo>
                  <a:pt x="104790" y="19020"/>
                </a:lnTo>
                <a:lnTo>
                  <a:pt x="114300" y="28621"/>
                </a:lnTo>
                <a:lnTo>
                  <a:pt x="123810" y="38130"/>
                </a:lnTo>
                <a:lnTo>
                  <a:pt x="133320" y="47640"/>
                </a:lnTo>
                <a:lnTo>
                  <a:pt x="133320" y="57150"/>
                </a:lnTo>
                <a:lnTo>
                  <a:pt x="133320" y="66660"/>
                </a:lnTo>
                <a:close/>
              </a:path>
            </a:pathLst>
          </a:custGeom>
          <a:solidFill>
            <a:srgbClr val="FAF9F5"/>
          </a:solidFill>
          <a:ln w="19050">
            <a:solidFill>
              <a:srgbClr val="2A6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2A6B72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S12</a:t>
            </a:r>
            <a:endParaRPr lang="en-US" sz="975" spc="156" kern="0" dirty="0">
              <a:solidFill>
                <a:srgbClr val="2A6B72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50020" y="471465"/>
            <a:ext cx="1194938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原神がやったこと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91192" y="470825"/>
            <a:ext cx="1286469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GENSHIN IMPACT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914400" y="1609710"/>
            <a:ext cx="8572500" cy="666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材料は、広告ではなく、</a:t>
            </a:r>
            <a:r>
              <a:rPr lang="ja-JP" altLang="en-US" sz="3000" spc="60" kern="0" dirty="0">
                <a:solidFill>
                  <a:srgbClr val="2A6B72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伝統</a:t>
            </a: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から採った。</a:t>
            </a:r>
            <a:endParaRPr lang="ja-JP" altLang="en-US" sz="3000" spc="60" kern="0" dirty="0">
              <a:solidFill>
                <a:srgbClr val="1B1A16"/>
              </a:solidFill>
              <a:latin typeface="Hiragino Mincho ProN W3" pitchFamily="34" charset="0"/>
              <a:ea typeface="Hiragino Mincho ProN W3" pitchFamily="34" charset="-122"/>
              <a:cs typeface="Hiragino Mincho ProN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33797" y="1722638"/>
            <a:ext cx="674096" cy="36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HOLT 04</a:t>
            </a:r>
            <a:endParaRPr lang="en-US" sz="1050" spc="12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2624145"/>
            <a:ext cx="10363170" cy="4399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山の景色、春節の祭り、京劇の歌。発売のあとも、足し続けた。</a:t>
            </a:r>
            <a:endParaRPr lang="ja-JP" altLang="en-US" sz="1425" spc="43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4450751"/>
            <a:ext cx="682234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125" spc="90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2020.09</a:t>
            </a:r>
            <a:endParaRPr lang="en-US" sz="1125" spc="90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652924"/>
            <a:ext cx="1323960" cy="655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中国の山の景色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  <a:p>
            <a:pPr algn="l" indent="0" marL="0">
              <a:lnSpc>
                <a:spcPts val="2250"/>
              </a:lnSpc>
              <a:buNone/>
            </a:pPr>
            <a:r>
              <a:rPr lang="ja-JP" altLang="en-US" sz="1050" spc="32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発売時</a:t>
            </a:r>
            <a:endParaRPr lang="ja-JP" altLang="en-US" sz="1050" spc="32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62420" y="4450751"/>
            <a:ext cx="682234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125" spc="90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2021.02</a:t>
            </a:r>
            <a:endParaRPr lang="en-US" sz="1125" spc="90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62420" y="4757715"/>
            <a:ext cx="932139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春節の祭り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10530" y="4450751"/>
            <a:ext cx="682234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125" spc="90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2022.01</a:t>
            </a:r>
            <a:endParaRPr lang="en-US" sz="1125" spc="90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10530" y="4757715"/>
            <a:ext cx="1864004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京劇の歌『神女劈観』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1103772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1293144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210080"/>
            <a:ext cx="6896130" cy="0"/>
          </a:xfrm>
          <a:prstGeom prst="line">
            <a:avLst/>
          </a:prstGeom>
          <a:noFill/>
          <a:ln w="14288">
            <a:solidFill>
              <a:srgbClr val="333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0530" y="4210080"/>
            <a:ext cx="3467130" cy="0"/>
          </a:xfrm>
          <a:prstGeom prst="line">
            <a:avLst/>
          </a:prstGeom>
          <a:noFill/>
          <a:ln w="14288">
            <a:solidFill>
              <a:srgbClr val="C9C4B8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866760" y="4162440"/>
            <a:ext cx="95280" cy="95280"/>
          </a:xfrm>
          <a:prstGeom prst="ellipse">
            <a:avLst/>
          </a:prstGeom>
          <a:solidFill>
            <a:srgbClr val="33312A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314871" y="4162440"/>
            <a:ext cx="95280" cy="95280"/>
          </a:xfrm>
          <a:prstGeom prst="ellipse">
            <a:avLst/>
          </a:prstGeom>
          <a:solidFill>
            <a:srgbClr val="33312A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7743871" y="4143421"/>
            <a:ext cx="133320" cy="133320"/>
          </a:xfrm>
          <a:custGeom>
            <a:avLst/>
            <a:gdLst/>
            <a:ahLst/>
            <a:cxnLst/>
            <a:rect l="l" t="t" r="r" b="b"/>
            <a:pathLst>
              <a:path w="133320" h="133320">
                <a:moveTo>
                  <a:pt x="133320" y="66660"/>
                </a:moveTo>
                <a:lnTo>
                  <a:pt x="133320" y="76170"/>
                </a:lnTo>
                <a:lnTo>
                  <a:pt x="133320" y="85771"/>
                </a:lnTo>
                <a:lnTo>
                  <a:pt x="123810" y="104790"/>
                </a:lnTo>
                <a:lnTo>
                  <a:pt x="114300" y="104790"/>
                </a:lnTo>
                <a:lnTo>
                  <a:pt x="104790" y="114300"/>
                </a:lnTo>
                <a:lnTo>
                  <a:pt x="104790" y="123810"/>
                </a:lnTo>
                <a:lnTo>
                  <a:pt x="85771" y="133320"/>
                </a:lnTo>
                <a:lnTo>
                  <a:pt x="76170" y="133320"/>
                </a:lnTo>
                <a:lnTo>
                  <a:pt x="66660" y="133320"/>
                </a:lnTo>
                <a:lnTo>
                  <a:pt x="57150" y="133320"/>
                </a:lnTo>
                <a:lnTo>
                  <a:pt x="47640" y="133320"/>
                </a:lnTo>
                <a:lnTo>
                  <a:pt x="38130" y="123810"/>
                </a:lnTo>
                <a:lnTo>
                  <a:pt x="28621" y="114300"/>
                </a:lnTo>
                <a:lnTo>
                  <a:pt x="19020" y="104790"/>
                </a:lnTo>
                <a:lnTo>
                  <a:pt x="9510" y="104790"/>
                </a:lnTo>
                <a:lnTo>
                  <a:pt x="0" y="85771"/>
                </a:lnTo>
                <a:lnTo>
                  <a:pt x="0" y="76170"/>
                </a:lnTo>
                <a:lnTo>
                  <a:pt x="0" y="66660"/>
                </a:lnTo>
                <a:lnTo>
                  <a:pt x="0" y="57150"/>
                </a:lnTo>
                <a:lnTo>
                  <a:pt x="0" y="47640"/>
                </a:lnTo>
                <a:lnTo>
                  <a:pt x="9510" y="38130"/>
                </a:lnTo>
                <a:lnTo>
                  <a:pt x="19020" y="28621"/>
                </a:lnTo>
                <a:lnTo>
                  <a:pt x="28621" y="19020"/>
                </a:lnTo>
                <a:lnTo>
                  <a:pt x="38130" y="9510"/>
                </a:lnTo>
                <a:lnTo>
                  <a:pt x="47640" y="0"/>
                </a:lnTo>
                <a:lnTo>
                  <a:pt x="57150" y="0"/>
                </a:lnTo>
                <a:lnTo>
                  <a:pt x="66660" y="0"/>
                </a:lnTo>
                <a:lnTo>
                  <a:pt x="76170" y="0"/>
                </a:lnTo>
                <a:lnTo>
                  <a:pt x="85771" y="0"/>
                </a:lnTo>
                <a:lnTo>
                  <a:pt x="104790" y="9510"/>
                </a:lnTo>
                <a:lnTo>
                  <a:pt x="104790" y="19020"/>
                </a:lnTo>
                <a:lnTo>
                  <a:pt x="114300" y="28621"/>
                </a:lnTo>
                <a:lnTo>
                  <a:pt x="123810" y="38130"/>
                </a:lnTo>
                <a:lnTo>
                  <a:pt x="133320" y="47640"/>
                </a:lnTo>
                <a:lnTo>
                  <a:pt x="133320" y="57150"/>
                </a:lnTo>
                <a:lnTo>
                  <a:pt x="133320" y="66660"/>
                </a:lnTo>
                <a:close/>
              </a:path>
            </a:pathLst>
          </a:custGeom>
          <a:solidFill>
            <a:srgbClr val="FAF9F5"/>
          </a:solidFill>
          <a:ln w="19050">
            <a:solidFill>
              <a:srgbClr val="2A6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2A6B72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S13</a:t>
            </a:r>
            <a:endParaRPr lang="en-US" sz="975" spc="156" kern="0" dirty="0">
              <a:solidFill>
                <a:srgbClr val="2A6B72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50020" y="471465"/>
            <a:ext cx="896203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歌が届いた先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64300" y="470825"/>
            <a:ext cx="2113361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GENSHIN IMPACT, 2022.01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914400" y="1609710"/>
            <a:ext cx="8572500" cy="666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その歌は、ゲームの</a:t>
            </a:r>
            <a:r>
              <a:rPr lang="ja-JP" altLang="en-US" sz="3000" spc="60" kern="0" dirty="0">
                <a:solidFill>
                  <a:srgbClr val="2A6B72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外</a:t>
            </a:r>
            <a:r>
              <a:rPr lang="ja-JP" altLang="en-US" sz="3000" spc="60" kern="0" dirty="0">
                <a:solidFill>
                  <a:srgbClr val="1B1A16"/>
                </a:solidFill>
                <a:latin typeface="Hiragino Mincho ProN W3" pitchFamily="34" charset="0"/>
                <a:ea typeface="Hiragino Mincho ProN W3" pitchFamily="34" charset="-122"/>
                <a:cs typeface="Hiragino Mincho ProN W3" pitchFamily="34" charset="-120"/>
              </a:rPr>
              <a:t>まで届いた。</a:t>
            </a:r>
            <a:endParaRPr lang="ja-JP" altLang="en-US" sz="3000" spc="60" kern="0" dirty="0">
              <a:solidFill>
                <a:srgbClr val="1B1A16"/>
              </a:solidFill>
              <a:latin typeface="Hiragino Mincho ProN W3" pitchFamily="34" charset="0"/>
              <a:ea typeface="Hiragino Mincho ProN W3" pitchFamily="34" charset="-122"/>
              <a:cs typeface="Hiragino Mincho ProN W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619390"/>
            <a:ext cx="10363170" cy="459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海外の人が、</a:t>
            </a:r>
            <a:r>
              <a:rPr lang="ja-JP" altLang="en-US" sz="150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2</a:t>
            </a:r>
            <a:r>
              <a:rPr lang="ja-JP" altLang="en-US" sz="1425" spc="43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年前の京劇の動画まで見に行った。</a:t>
            </a:r>
            <a:endParaRPr lang="ja-JP" altLang="en-US" sz="1425" spc="43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4450751"/>
            <a:ext cx="463052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310"/>
              </a:lnSpc>
              <a:buNone/>
            </a:pPr>
            <a:r>
              <a:rPr lang="ja-JP" altLang="en-US" sz="1125" spc="90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中国で</a:t>
            </a:r>
            <a:endParaRPr lang="ja-JP" altLang="en-US" sz="1125" spc="90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4757715"/>
            <a:ext cx="1693103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歌の動画 1980万回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62420" y="4450751"/>
            <a:ext cx="463052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310"/>
              </a:lnSpc>
              <a:buNone/>
            </a:pPr>
            <a:r>
              <a:rPr lang="ja-JP" altLang="en-US" sz="1125" spc="90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海外で</a:t>
            </a:r>
            <a:endParaRPr lang="ja-JP" altLang="en-US" sz="1125" spc="90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62420" y="4757715"/>
            <a:ext cx="1566550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歌の動画 544万回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10530" y="4450751"/>
            <a:ext cx="915954" cy="304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310"/>
              </a:lnSpc>
              <a:buNone/>
            </a:pPr>
            <a:r>
              <a:rPr lang="ja-JP" altLang="en-US" sz="1125" spc="90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ゲームの外で</a:t>
            </a:r>
            <a:endParaRPr lang="ja-JP" altLang="en-US" sz="1125" spc="90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10530" y="4757715"/>
            <a:ext cx="1625072" cy="403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京劇の動画 60万回</a:t>
            </a:r>
            <a:endParaRPr lang="ja-JP" altLang="en-US" sz="1425" spc="43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5738226"/>
            <a:ext cx="3892052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ja-JP" altLang="en-US" sz="975" spc="98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2022年3月の報道値。出典：人民日報海外版（2022.03.28）</a:t>
            </a:r>
            <a:endParaRPr lang="ja-JP" altLang="en-US" sz="975" spc="98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1103772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1293144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FAF9F5"/>
          </a:solidFill>
          <a:ln w="14288">
            <a:solidFill>
              <a:srgbClr val="333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9170" y="243843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4A5D3A">
              <a:alpha val="10000"/>
            </a:srgbClr>
          </a:solidFill>
          <a:ln w="19050">
            <a:solidFill>
              <a:srgbClr val="4A5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4030" y="304797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33312A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7315200" y="2362170"/>
            <a:ext cx="110487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7924830" y="3047970"/>
            <a:ext cx="49533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8305770" y="2381280"/>
            <a:ext cx="0" cy="64767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371771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038460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2A6B72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S14</a:t>
            </a:r>
            <a:endParaRPr lang="en-US" sz="975" spc="156" kern="0" dirty="0">
              <a:solidFill>
                <a:srgbClr val="2A6B72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50020" y="471465"/>
            <a:ext cx="597469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原神の絵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439808" y="470825"/>
            <a:ext cx="1837761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GENSHIN IMPACT, 2022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914400" y="1247790"/>
            <a:ext cx="8572500" cy="459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500" spc="45" kern="0" dirty="0">
                <a:solidFill>
                  <a:srgbClr val="5C5A50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2022</a:t>
            </a:r>
            <a:r>
              <a:rPr lang="ja-JP" altLang="en-US" sz="1425" spc="43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年、京劇の歌のあと。</a:t>
            </a:r>
            <a:endParaRPr lang="ja-JP" altLang="en-US" sz="1425" spc="43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870" y="2086021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建前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38430" y="1952610"/>
            <a:ext cx="3206252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伝統は、若者に届かない</a:t>
            </a:r>
            <a:endParaRPr lang="ja-JP" altLang="en-US" sz="2250" spc="45" kern="0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09730" y="2662276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endParaRPr lang="ja-JP" altLang="en-US" sz="1125" dirty="0">
              <a:solidFill>
                <a:srgbClr val="4A5D3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71650" y="2656058"/>
            <a:ext cx="48152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STORY</a:t>
            </a:r>
            <a:endParaRPr lang="en-US" sz="1050" spc="126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438430" y="2600371"/>
            <a:ext cx="2365919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50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遊びの中で、伝統を歌う</a:t>
            </a:r>
            <a:endParaRPr lang="ja-JP" altLang="en-US" sz="1650" spc="50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14500" y="3305190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DFDBD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実感</a:t>
            </a:r>
            <a:endParaRPr lang="ja-JP" altLang="en-US" sz="1125" spc="158" kern="0" dirty="0">
              <a:solidFill>
                <a:srgbClr val="DFDBD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38430" y="3171871"/>
            <a:ext cx="3497580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本物の伝統には、心が動く</a:t>
            </a:r>
            <a:endParaRPr lang="ja-JP" altLang="en-US" sz="2250" spc="45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96330" y="2633655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ズレ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40005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914400" y="426723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914400" y="4372021"/>
            <a:ext cx="10363170" cy="153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売っていたのは、絵柄ではなく「いま</a:t>
            </a:r>
            <a:r>
              <a:rPr lang="ja-JP" altLang="en-US" sz="3000" dirty="0">
                <a:solidFill>
                  <a:srgbClr val="2A6B72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歌われる</a:t>
            </a: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伝統」。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1050"/>
              </a:spcBef>
              <a:buNone/>
            </a:pP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日本は、このゲームの二番目に大きな市場になった。</a:t>
            </a:r>
            <a:endParaRPr lang="ja-JP" altLang="en-US" sz="165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1350"/>
              </a:spcBef>
              <a:buNone/>
            </a:pPr>
            <a:r>
              <a:rPr lang="ja-JP" altLang="en-US" sz="975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スマホの課金だけで約24%（Sensor Tower 推計・2022年9月）</a:t>
            </a:r>
            <a:endParaRPr lang="ja-JP" altLang="en-US" sz="975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1103772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1293144" y="790590"/>
            <a:ext cx="154716" cy="28621"/>
          </a:xfrm>
          <a:prstGeom prst="rect">
            <a:avLst/>
          </a:prstGeom>
          <a:solidFill>
            <a:srgbClr val="2A6B72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1310" y="4629150"/>
            <a:ext cx="0" cy="419070"/>
          </a:xfrm>
          <a:prstGeom prst="line">
            <a:avLst/>
          </a:prstGeom>
          <a:noFill/>
          <a:ln w="14288">
            <a:solidFill>
              <a:srgbClr val="4A5D3A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81310" y="4743450"/>
            <a:ext cx="8286750" cy="0"/>
          </a:xfrm>
          <a:prstGeom prst="line">
            <a:avLst/>
          </a:prstGeom>
          <a:noFill/>
          <a:ln w="14288">
            <a:solidFill>
              <a:srgbClr val="4A5D3A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68060" y="4629150"/>
            <a:ext cx="0" cy="114300"/>
          </a:xfrm>
          <a:prstGeom prst="line">
            <a:avLst/>
          </a:prstGeom>
          <a:noFill/>
          <a:ln w="14288">
            <a:solidFill>
              <a:srgbClr val="4A5D3A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S15</a:t>
            </a:r>
            <a:endParaRPr lang="en-US" sz="975" spc="15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50020" y="471465"/>
            <a:ext cx="1344259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三つの事例を並べる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2971800" y="1195395"/>
            <a:ext cx="2514600" cy="428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dirty="0">
                <a:solidFill>
                  <a:srgbClr val="9C4A3C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任天堂</a:t>
            </a:r>
            <a:endParaRPr lang="ja-JP" altLang="en-US" sz="1650" dirty="0">
              <a:solidFill>
                <a:srgbClr val="9C4A3C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67430" y="1195395"/>
            <a:ext cx="2514600" cy="428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7E611B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Cyberpunk 2077</a:t>
            </a:r>
            <a:endParaRPr lang="en-US" sz="1650" dirty="0">
              <a:solidFill>
                <a:srgbClr val="7E611B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62970" y="1195395"/>
            <a:ext cx="2514600" cy="428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dirty="0">
                <a:solidFill>
                  <a:srgbClr val="2A6B72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原神</a:t>
            </a:r>
            <a:endParaRPr lang="ja-JP" altLang="en-US" sz="1650" dirty="0">
              <a:solidFill>
                <a:srgbClr val="2A6B72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166686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914400" y="1809780"/>
            <a:ext cx="1676370" cy="59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01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  <a:p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ja-JP" altLang="en-US" sz="1125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建前</a:t>
            </a:r>
            <a:endParaRPr lang="ja-JP" altLang="en-US" sz="1125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71800" y="1914571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「ビデオゲームは終わった」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67430" y="1914571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「頑張れば報われる」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62970" y="1914571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「伝統は、若者に届かない」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950" y="2514600"/>
            <a:ext cx="10534620" cy="847740"/>
          </a:xfrm>
          <a:prstGeom prst="rect">
            <a:avLst/>
          </a:prstGeom>
          <a:solidFill>
            <a:srgbClr val="F0F0EB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742950" y="2514600"/>
            <a:ext cx="1053462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742950" y="2514600"/>
            <a:ext cx="19020" cy="84774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914400" y="2657521"/>
            <a:ext cx="1676370" cy="59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02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  <a:p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ja-JP" altLang="en-US" sz="1125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物語</a:t>
            </a:r>
            <a:endParaRPr lang="ja-JP" altLang="en-US" sz="1125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71800" y="2762220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家族の玩具</a:t>
            </a:r>
            <a:endParaRPr lang="ja-JP" altLang="en-US" sz="1425" spc="29" kern="0" dirty="0">
              <a:solidFill>
                <a:srgbClr val="33312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67430" y="2762220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駆け上がり、壊れる人の話</a:t>
            </a:r>
            <a:endParaRPr lang="ja-JP" altLang="en-US" sz="1425" spc="29" kern="0" dirty="0">
              <a:solidFill>
                <a:srgbClr val="33312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62970" y="2762220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いま歌われる伝統</a:t>
            </a:r>
            <a:endParaRPr lang="ja-JP" altLang="en-US" sz="1425" spc="29" kern="0" dirty="0">
              <a:solidFill>
                <a:srgbClr val="33312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336234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914400" y="3505170"/>
            <a:ext cx="1676370" cy="59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03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  <a:p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ja-JP" altLang="en-US" sz="1125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実感</a:t>
            </a:r>
            <a:endParaRPr lang="ja-JP" altLang="en-US" sz="1125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71800" y="3609960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子どもは、遊びたがっていた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67430" y="3609960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社会は、人をつぶす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62970" y="3609960"/>
            <a:ext cx="251460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本物の伝統には、心が動く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400" y="514350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914400" y="5305440"/>
            <a:ext cx="1676370" cy="36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dirty="0">
                <a:solidFill>
                  <a:srgbClr val="4A5D3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結論</a:t>
            </a:r>
            <a:endParaRPr lang="ja-JP" altLang="en-US" sz="1050" dirty="0">
              <a:solidFill>
                <a:srgbClr val="4A5D3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971800" y="5057821"/>
            <a:ext cx="8305770" cy="1118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売っていたのは、ズレを埋める</a:t>
            </a:r>
            <a:r>
              <a:rPr lang="ja-JP" altLang="en-US" sz="3000" dirty="0">
                <a:solidFill>
                  <a:srgbClr val="4A5D3A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物語</a:t>
            </a: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750"/>
              </a:spcBef>
              <a:buNone/>
            </a:pPr>
            <a:r>
              <a:rPr lang="ja-JP" altLang="en-US" sz="165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では、私たちは？</a:t>
            </a:r>
            <a:endParaRPr lang="ja-JP" altLang="en-US" sz="165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14400" y="790590"/>
            <a:ext cx="533370" cy="28621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S16</a:t>
            </a:r>
            <a:endParaRPr lang="en-US" sz="975" spc="15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50020" y="471465"/>
            <a:ext cx="1941546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お客さんのズレ｜よく聞く話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2971800" y="1095360"/>
            <a:ext cx="3962370" cy="662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ja-JP" altLang="en-US" sz="1425" dirty="0">
                <a:solidFill>
                  <a:srgbClr val="33312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建前</a:t>
            </a:r>
            <a:endParaRPr lang="ja-JP" altLang="en-US" sz="1425" dirty="0">
              <a:solidFill>
                <a:srgbClr val="33312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  <a:p>
            <a:pPr algn="l" indent="0" marL="0">
              <a:lnSpc>
                <a:spcPts val="2175"/>
              </a:lnSpc>
              <a:spcBef>
                <a:spcPts val="600"/>
              </a:spcBef>
              <a:buNone/>
            </a:pPr>
            <a:r>
              <a:rPr lang="ja-JP" altLang="en-US" sz="105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みんなが言っていること</a:t>
            </a:r>
            <a:endParaRPr lang="ja-JP" altLang="en-US" sz="105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0" y="1095360"/>
            <a:ext cx="3962370" cy="662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ja-JP" altLang="en-US" sz="1425" dirty="0">
                <a:solidFill>
                  <a:srgbClr val="33312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実感</a:t>
            </a:r>
            <a:endParaRPr lang="ja-JP" altLang="en-US" sz="1425" dirty="0">
              <a:solidFill>
                <a:srgbClr val="33312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  <a:p>
            <a:pPr algn="l" indent="0" marL="0">
              <a:lnSpc>
                <a:spcPts val="2175"/>
              </a:lnSpc>
              <a:spcBef>
                <a:spcPts val="600"/>
              </a:spcBef>
              <a:buNone/>
            </a:pPr>
            <a:r>
              <a:rPr lang="ja-JP" altLang="en-US" sz="105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本当に起きていること</a:t>
            </a:r>
            <a:endParaRPr lang="ja-JP" altLang="en-US" sz="105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1900215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914400" y="2104400"/>
            <a:ext cx="1676370" cy="3762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01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71800" y="2147926"/>
            <a:ext cx="396237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「ユーザー中心」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2147926"/>
            <a:ext cx="396237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1B1A16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決める人は、ユーザーに会っていない</a:t>
            </a:r>
            <a:endParaRPr lang="ja-JP" altLang="en-US" sz="1425" spc="29" kern="0" dirty="0">
              <a:solidFill>
                <a:srgbClr val="1B1A16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2588392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914400" y="2792578"/>
            <a:ext cx="1676370" cy="3762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02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71800" y="2836103"/>
            <a:ext cx="396237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「DX推進」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0" y="2836103"/>
            <a:ext cx="396237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1B1A16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結局、Excel とハンコ</a:t>
            </a:r>
            <a:endParaRPr lang="ja-JP" altLang="en-US" sz="1425" spc="29" kern="0" dirty="0">
              <a:solidFill>
                <a:srgbClr val="1B1A16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327657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914400" y="3480755"/>
            <a:ext cx="1676370" cy="3762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03</a:t>
            </a:r>
            <a:endParaRPr lang="en-US" sz="975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71800" y="3524280"/>
            <a:ext cx="3962370" cy="43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29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「スピード重視」</a:t>
            </a:r>
            <a:endParaRPr lang="ja-JP" altLang="en-US" sz="1425" spc="29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0" y="3519526"/>
            <a:ext cx="3962370" cy="4498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ja-JP" altLang="en-US" sz="1425" spc="29" kern="0" dirty="0">
                <a:solidFill>
                  <a:srgbClr val="1B1A16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承認に、</a:t>
            </a:r>
            <a:r>
              <a:rPr lang="ja-JP" altLang="en-US" sz="1500" spc="30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1</a:t>
            </a:r>
            <a:r>
              <a:rPr lang="ja-JP" altLang="en-US" sz="1425" spc="29" kern="0" dirty="0">
                <a:solidFill>
                  <a:srgbClr val="1B1A16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か月</a:t>
            </a:r>
            <a:endParaRPr lang="ja-JP" altLang="en-US" sz="1425" spc="29" kern="0" dirty="0">
              <a:solidFill>
                <a:srgbClr val="1B1A16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514350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914400" y="5305440"/>
            <a:ext cx="1676370" cy="36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dirty="0">
                <a:solidFill>
                  <a:srgbClr val="4A5D3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問い</a:t>
            </a:r>
            <a:endParaRPr lang="ja-JP" altLang="en-US" sz="1050" dirty="0">
              <a:solidFill>
                <a:srgbClr val="4A5D3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71800" y="5057821"/>
            <a:ext cx="8305770" cy="1219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このズレを埋める</a:t>
            </a:r>
            <a:r>
              <a:rPr lang="ja-JP" altLang="en-US" sz="3000" dirty="0">
                <a:solidFill>
                  <a:srgbClr val="4A5D3A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物語</a:t>
            </a: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を、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350"/>
              </a:lnSpc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私たちのマーケティングは語れているか。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4400" y="790590"/>
            <a:ext cx="533370" cy="28621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58471" y="1219170"/>
            <a:ext cx="1019190" cy="247620"/>
          </a:xfrm>
          <a:custGeom>
            <a:avLst/>
            <a:gdLst/>
            <a:ahLst/>
            <a:cxnLst/>
            <a:rect l="l" t="t" r="r" b="b"/>
            <a:pathLst>
              <a:path w="1019190" h="247620">
                <a:moveTo>
                  <a:pt x="0" y="0"/>
                </a:moveTo>
                <a:lnTo>
                  <a:pt x="1019190" y="0"/>
                </a:lnTo>
                <a:lnTo>
                  <a:pt x="1019190" y="247620"/>
                </a:lnTo>
                <a:lnTo>
                  <a:pt x="0" y="2476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3660" y="1276320"/>
            <a:ext cx="95280" cy="133320"/>
          </a:xfrm>
          <a:custGeom>
            <a:avLst/>
            <a:gdLst/>
            <a:ahLst/>
            <a:cxnLst/>
            <a:rect l="l" t="t" r="r" b="b"/>
            <a:pathLst>
              <a:path w="95280" h="133320">
                <a:moveTo>
                  <a:pt x="0" y="0"/>
                </a:moveTo>
                <a:lnTo>
                  <a:pt x="95280" y="0"/>
                </a:lnTo>
                <a:lnTo>
                  <a:pt x="95280" y="133320"/>
                </a:lnTo>
                <a:lnTo>
                  <a:pt x="0" y="13332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2771" y="1276320"/>
            <a:ext cx="0" cy="133320"/>
          </a:xfrm>
          <a:prstGeom prst="line">
            <a:avLst/>
          </a:prstGeom>
          <a:noFill/>
          <a:ln w="14288">
            <a:solidFill>
              <a:srgbClr val="4A5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FAF9F5"/>
          </a:solidFill>
          <a:ln w="14288">
            <a:solidFill>
              <a:srgbClr val="3331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170" y="243843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noFill/>
          <a:ln w="14288">
            <a:solidFill>
              <a:srgbClr val="4A5D3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524030" y="3047970"/>
            <a:ext cx="6400800" cy="533370"/>
          </a:xfrm>
          <a:custGeom>
            <a:avLst/>
            <a:gdLst/>
            <a:ahLst/>
            <a:cxnLst/>
            <a:rect l="l" t="t" r="r" b="b"/>
            <a:pathLst>
              <a:path w="6400800" h="533370">
                <a:moveTo>
                  <a:pt x="0" y="0"/>
                </a:moveTo>
                <a:lnTo>
                  <a:pt x="6400800" y="0"/>
                </a:lnTo>
                <a:lnTo>
                  <a:pt x="6400800" y="533370"/>
                </a:lnTo>
                <a:lnTo>
                  <a:pt x="0" y="533370"/>
                </a:lnTo>
                <a:close/>
              </a:path>
            </a:pathLst>
          </a:custGeom>
          <a:solidFill>
            <a:srgbClr val="33312A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315200" y="2362170"/>
            <a:ext cx="110487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7924830" y="3047970"/>
            <a:ext cx="495330" cy="0"/>
          </a:xfrm>
          <a:prstGeom prst="line">
            <a:avLst/>
          </a:prstGeom>
          <a:noFill/>
          <a:ln w="9525">
            <a:solidFill>
              <a:srgbClr val="C9C4B8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8305770" y="2381280"/>
            <a:ext cx="0" cy="64767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2371771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3038460"/>
            <a:ext cx="152430" cy="0"/>
          </a:xfrm>
          <a:prstGeom prst="line">
            <a:avLst/>
          </a:prstGeom>
          <a:noFill/>
          <a:ln w="14288">
            <a:solidFill>
              <a:srgbClr val="6E6B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0825"/>
            <a:ext cx="283190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5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S17</a:t>
            </a:r>
            <a:endParaRPr lang="en-US" sz="975" spc="15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50020" y="471465"/>
            <a:ext cx="1745772" cy="3143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ja-JP" altLang="en-US" sz="1050" spc="126" kern="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問い｜Goodpatch BMX</a:t>
            </a:r>
            <a:endParaRPr lang="ja-JP" altLang="en-US" sz="1050" spc="126" kern="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82997" y="470825"/>
            <a:ext cx="1194664" cy="30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975" spc="137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GOODPATCH BMX</a:t>
            </a:r>
            <a:endParaRPr lang="en-US" sz="975" spc="137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8001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914400" y="1252545"/>
            <a:ext cx="8572500" cy="4399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ja-JP" altLang="en-US" sz="1425" spc="43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BMX は、ブランドとマーケティングを、一つの意思として設計する。</a:t>
            </a:r>
            <a:endParaRPr lang="ja-JP" altLang="en-US" sz="1425" spc="43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33797" y="1265438"/>
            <a:ext cx="674096" cy="36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4A5D3A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HOLT 02</a:t>
            </a:r>
            <a:endParaRPr lang="en-US" sz="1050" spc="126" kern="0" dirty="0">
              <a:solidFill>
                <a:srgbClr val="4A5D3A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4870" y="2086021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建前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38430" y="1952610"/>
            <a:ext cx="2323216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33312A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ブランドは大事だ</a:t>
            </a:r>
            <a:endParaRPr lang="ja-JP" altLang="en-US" sz="2250" spc="45" kern="0" dirty="0">
              <a:solidFill>
                <a:srgbClr val="33312A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09730" y="2662276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endParaRPr lang="ja-JP" altLang="en-US" sz="1125" dirty="0">
              <a:solidFill>
                <a:srgbClr val="4A5D3A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71650" y="2656058"/>
            <a:ext cx="48152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spc="126" kern="0" dirty="0">
                <a:solidFill>
                  <a:srgbClr val="6E6B60"/>
                </a:solidFill>
                <a:latin typeface="Menlo" pitchFamily="34" charset="0"/>
                <a:ea typeface="Hiragino Sans W3" pitchFamily="34" charset="-122"/>
                <a:cs typeface="Menlo" pitchFamily="34" charset="-120"/>
              </a:rPr>
              <a:t>STORY</a:t>
            </a:r>
            <a:endParaRPr lang="en-US" sz="1050" spc="126" kern="0" dirty="0">
              <a:solidFill>
                <a:srgbClr val="6E6B60"/>
              </a:solidFill>
              <a:latin typeface="Menlo" pitchFamily="34" charset="0"/>
              <a:ea typeface="Hiragino Sans W3" pitchFamily="34" charset="-122"/>
              <a:cs typeface="Menlo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38430" y="2600371"/>
            <a:ext cx="215890" cy="419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ja-JP" altLang="en-US" sz="1650" spc="50" kern="0" dirty="0">
                <a:solidFill>
                  <a:srgbClr val="1B1A16"/>
                </a:solidFill>
                <a:latin typeface="Hiragino Sans W4" pitchFamily="34" charset="0"/>
                <a:ea typeface="Hiragino Sans W4" pitchFamily="34" charset="-122"/>
                <a:cs typeface="Hiragino Sans W4" pitchFamily="34" charset="-120"/>
              </a:rPr>
              <a:t>？</a:t>
            </a:r>
            <a:endParaRPr lang="ja-JP" altLang="en-US" sz="1650" spc="50" kern="0" dirty="0">
              <a:solidFill>
                <a:srgbClr val="1B1A16"/>
              </a:solidFill>
              <a:latin typeface="Hiragino Sans W4" pitchFamily="34" charset="0"/>
              <a:ea typeface="Hiragino Sans W4" pitchFamily="34" charset="-122"/>
              <a:cs typeface="Hiragino Sans W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14500" y="3305190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DFDBD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実感</a:t>
            </a:r>
            <a:endParaRPr lang="ja-JP" altLang="en-US" sz="1125" spc="158" kern="0" dirty="0">
              <a:solidFill>
                <a:srgbClr val="DFDBD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438430" y="3171871"/>
            <a:ext cx="3206252" cy="495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ja-JP" altLang="en-US" sz="2250" spc="45" kern="0" dirty="0">
                <a:solidFill>
                  <a:srgbClr val="FAF9F5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決めるのは、今期の数字</a:t>
            </a:r>
            <a:endParaRPr lang="ja-JP" altLang="en-US" sz="2250" spc="45" kern="0" dirty="0">
              <a:solidFill>
                <a:srgbClr val="FAF9F5"/>
              </a:solidFill>
              <a:latin typeface="Hiragino Sans W6" pitchFamily="34" charset="0"/>
              <a:ea typeface="Hiragino Sans W6" pitchFamily="34" charset="-122"/>
              <a:cs typeface="Hiragino Sans W6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96330" y="2633655"/>
            <a:ext cx="3258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ja-JP" altLang="en-US" sz="1125" spc="158" kern="0" dirty="0">
                <a:solidFill>
                  <a:srgbClr val="5C5A50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ズレ</a:t>
            </a:r>
            <a:endParaRPr lang="ja-JP" altLang="en-US" sz="1125" spc="158" kern="0" dirty="0">
              <a:solidFill>
                <a:srgbClr val="5C5A50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14400" y="4000500"/>
            <a:ext cx="10363170" cy="9510"/>
          </a:xfrm>
          <a:prstGeom prst="rect">
            <a:avLst/>
          </a:prstGeom>
          <a:solidFill>
            <a:srgbClr val="C9C4B8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914400" y="4267230"/>
            <a:ext cx="190470" cy="19020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914400" y="4372021"/>
            <a:ext cx="10363170" cy="1451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ja-JP" altLang="en-US" sz="1050" dirty="0">
                <a:solidFill>
                  <a:srgbClr val="4A5D3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社長への問い</a:t>
            </a:r>
            <a:endParaRPr lang="ja-JP" altLang="en-US" sz="1050" dirty="0">
              <a:solidFill>
                <a:srgbClr val="4A5D3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600"/>
              </a:spcBef>
              <a:buNone/>
            </a:pPr>
            <a:r>
              <a:rPr lang="ja-JP" altLang="en-US" sz="3000" dirty="0">
                <a:solidFill>
                  <a:srgbClr val="1B1A16"/>
                </a:solidFill>
                <a:latin typeface="Hiragino Mincho ProN W6" pitchFamily="34" charset="0"/>
                <a:ea typeface="Hiragino Mincho ProN W6" pitchFamily="34" charset="-122"/>
                <a:cs typeface="Hiragino Mincho ProN W6" pitchFamily="34" charset="-120"/>
              </a:rPr>
              <a:t>この真ん中に、何を書きますか。</a:t>
            </a:r>
            <a:endParaRPr lang="ja-JP" altLang="en-US" sz="3000" dirty="0">
              <a:solidFill>
                <a:srgbClr val="1B1A16"/>
              </a:solidFill>
              <a:latin typeface="Hiragino Mincho ProN W6" pitchFamily="34" charset="0"/>
              <a:ea typeface="Hiragino Mincho ProN W6" pitchFamily="34" charset="-122"/>
              <a:cs typeface="Hiragino Mincho ProN W6" pitchFamily="34" charset="-120"/>
            </a:endParaRPr>
          </a:p>
          <a:p>
            <a:pPr algn="l" indent="0" marL="0">
              <a:lnSpc>
                <a:spcPts val="4350"/>
              </a:lnSpc>
              <a:spcBef>
                <a:spcPts val="1050"/>
              </a:spcBef>
              <a:buNone/>
            </a:pP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BMX の</a:t>
            </a:r>
            <a:r>
              <a:rPr lang="ja-JP" altLang="en-US" sz="1650" dirty="0">
                <a:solidFill>
                  <a:srgbClr val="4A5D3A"/>
                </a:solidFill>
                <a:latin typeface="Hiragino Sans W6" pitchFamily="34" charset="0"/>
                <a:ea typeface="Hiragino Sans W6" pitchFamily="34" charset="-122"/>
                <a:cs typeface="Hiragino Sans W6" pitchFamily="34" charset="-120"/>
              </a:rPr>
              <a:t>物語</a:t>
            </a:r>
            <a:r>
              <a:rPr lang="ja-JP" altLang="en-US" sz="1650" dirty="0">
                <a:solidFill>
                  <a:srgbClr val="33312A"/>
                </a:solidFill>
                <a:latin typeface="Hiragino Sans W3" pitchFamily="34" charset="0"/>
                <a:ea typeface="Hiragino Sans W3" pitchFamily="34" charset="-122"/>
                <a:cs typeface="Hiragino Sans W3" pitchFamily="34" charset="-120"/>
              </a:rPr>
              <a:t>を、一行で。</a:t>
            </a:r>
            <a:endParaRPr lang="ja-JP" altLang="en-US" sz="1650" dirty="0">
              <a:solidFill>
                <a:srgbClr val="33312A"/>
              </a:solidFill>
              <a:latin typeface="Hiragino Sans W3" pitchFamily="34" charset="0"/>
              <a:ea typeface="Hiragino Sans W3" pitchFamily="34" charset="-122"/>
              <a:cs typeface="Hiragino Sans W3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14400" y="790590"/>
            <a:ext cx="533370" cy="28621"/>
          </a:xfrm>
          <a:prstGeom prst="rect">
            <a:avLst/>
          </a:prstGeom>
          <a:solidFill>
            <a:srgbClr val="4A5D3A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 panose="020F0302020204030204"/>
        <a:ea typeface="Hiragino Sans W3"/>
        <a:cs typeface=""/>
        <a:font script="Jpan" typeface="Hiragino Sans W3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 panose="020F0502020204030204"/>
        <a:ea typeface="Hiragino Sans W3"/>
        <a:cs typeface=""/>
        <a:font script="Jpan" typeface="Hiragino Sans W3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Goodpatch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この会社は、何を売っていたのか。</dc:title>
  <dc:subject>社内研修</dc:subject>
  <dc:creator>Goodpatch</dc:creator>
  <cp:lastModifiedBy>Goodpatch</cp:lastModifiedBy>
  <cp:revision>1</cp:revision>
  <dcterms:created xsi:type="dcterms:W3CDTF">2026-09-23T12:08:17Z</dcterms:created>
  <dcterms:modified xsi:type="dcterms:W3CDTF">2026-09-23T12:08:17Z</dcterms:modified>
</cp:coreProperties>
</file>